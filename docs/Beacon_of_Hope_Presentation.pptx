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8" roundtripDataSignature="AMtx7mgWsLFHvIf9umhKqK7HEnbAzM9S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de3cafd4d1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de3cafd4d1_2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de3cafd4d1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g3de3cafd4d1_2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de3cafd4d1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g3de3cafd4d1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drive.google.com/file/d/1dj2LNeabA_LB7v3BtFrz7y84WbSINbw8/view" TargetMode="External"/><Relationship Id="rId4" Type="http://schemas.openxmlformats.org/officeDocument/2006/relationships/image" Target="../media/image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rive.google.com/file/d/1l26PUwBZoblwHZOWvXhvWZAg9HWTBn8l/view" TargetMode="External"/><Relationship Id="rId4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drive.google.com/file/d/1QZp3_T1mREloA_y5LgPNzXSS8-q04R72/view" TargetMode="External"/><Relationship Id="rId4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drive.google.com/file/d/1eUgTIycyyI94nZKR2J-iTMDIKweu66Em/view" TargetMode="External"/><Relationship Id="rId4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BEACON OF HOPE FOUNDATION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228600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Restoring Hope,</a:t>
            </a:r>
            <a:br>
              <a:rPr b="1" i="1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1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Rebuilding Lives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420624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Technology for a nonprofit protecting survivors</a:t>
            </a:r>
            <a:br>
              <a:rPr b="0" i="0" lang="en-US" sz="18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of abuse and trafficking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Presented by Team Beacon  •  April 2026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10515600" y="2743200"/>
            <a:ext cx="731520" cy="731520"/>
          </a:xfrm>
          <a:prstGeom prst="ellipse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0058400" y="3840480"/>
            <a:ext cx="365760" cy="365760"/>
          </a:xfrm>
          <a:prstGeom prst="ellipse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We'll Cover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1097280" y="1965960"/>
            <a:ext cx="320040" cy="320040"/>
          </a:xfrm>
          <a:prstGeom prst="ellipse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1097280" y="19659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1234440" y="2331720"/>
            <a:ext cx="36576" cy="685800"/>
          </a:xfrm>
          <a:prstGeom prst="rect">
            <a:avLst/>
          </a:prstGeom>
          <a:solidFill>
            <a:srgbClr val="2E4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645920" y="1847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Speaker A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645920" y="21031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Mission &amp; the Problems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9601200" y="19659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4 min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1097280" y="3063240"/>
            <a:ext cx="320040" cy="320040"/>
          </a:xfrm>
          <a:prstGeom prst="ellipse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097280" y="30632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1234440" y="3429000"/>
            <a:ext cx="36576" cy="685800"/>
          </a:xfrm>
          <a:prstGeom prst="rect">
            <a:avLst/>
          </a:prstGeom>
          <a:solidFill>
            <a:srgbClr val="2E4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645920" y="29443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Speaker B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645920" y="32004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Platform &amp; Live Demo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9601200" y="30632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5 min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1097280" y="4160520"/>
            <a:ext cx="320040" cy="320040"/>
          </a:xfrm>
          <a:prstGeom prst="ellipse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1097280" y="41605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1234440" y="4526280"/>
            <a:ext cx="36576" cy="685800"/>
          </a:xfrm>
          <a:prstGeom prst="rect">
            <a:avLst/>
          </a:prstGeom>
          <a:solidFill>
            <a:srgbClr val="2E4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645920" y="40416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Speaker C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1645920" y="42976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Deep Dive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9601200" y="41605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7 min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1097280" y="5257800"/>
            <a:ext cx="320040" cy="320040"/>
          </a:xfrm>
          <a:prstGeom prst="ellipse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097280" y="52578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1645920" y="5138927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Speaker D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1645920" y="5394959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 &amp; Closing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9601200" y="5257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4 min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THE MISSION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731520" y="1097280"/>
            <a:ext cx="10058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Protect and rehabilitate girls</a:t>
            </a:r>
            <a:b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who are survivors of abuse</a:t>
            </a:r>
            <a:b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and trafficking.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731520" y="3840480"/>
            <a:ext cx="9144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Beacon of Hope operates safe homes across Guam,</a:t>
            </a:r>
            <a:b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funded entirely by donations. A small team manages multiple</a:t>
            </a:r>
            <a:b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safehouses, counseling, education, health services, and</a:t>
            </a:r>
            <a:b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reintegration, all for the most vulnerable population imaginable.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731520" y="54864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Everything we built serves this mission.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PROBLEM 1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Girls Are Falling Through the Cracks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1097280" y="25603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Staff don’t know who is progressing and who is being ignored</a:t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640080" y="2606040"/>
            <a:ext cx="274320" cy="274320"/>
          </a:xfrm>
          <a:prstGeom prst="ellipse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1097280" y="356616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No insight into which interventions are actually working</a:t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640080" y="3611880"/>
            <a:ext cx="274320" cy="274320"/>
          </a:xfrm>
          <a:prstGeom prst="ellipse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1097280" y="45720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Can’t tell when a resident is ready for reintegration, or being moved too soon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640080" y="4617720"/>
            <a:ext cx="274320" cy="274320"/>
          </a:xfrm>
          <a:prstGeom prst="ellipse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731520" y="54864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With limited staff across multiple safehouses, there is no system</a:t>
            </a:r>
            <a:br>
              <a:rPr b="0" i="1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to track the full journey from intake to reintegration.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PROBLEM 2</a:t>
            </a:r>
            <a:endParaRPr/>
          </a:p>
        </p:txBody>
      </p:sp>
      <p:sp>
        <p:nvSpPr>
          <p:cNvPr id="149" name="Google Shape;149;p5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Donors Are Drifting Away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1097280" y="25603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Don’t know which donors are at risk of lapsing</a:t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640080" y="2606040"/>
            <a:ext cx="274320" cy="274320"/>
          </a:xfrm>
          <a:prstGeom prst="ellipse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1097280" y="356616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No way to stay top of mind when donors are ready to give again</a:t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640080" y="3611880"/>
            <a:ext cx="274320" cy="274320"/>
          </a:xfrm>
          <a:prstGeom prst="ellipse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1097280" y="45720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No way to show donors the specific impact of their giving</a:t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640080" y="4617720"/>
            <a:ext cx="274320" cy="274320"/>
          </a:xfrm>
          <a:prstGeom prst="ellipse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731520" y="54864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The organization depends entirely on donations to operate.</a:t>
            </a:r>
            <a:br>
              <a:rPr b="0" i="1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Losing donors without understanding why is an existential threat.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PROBLEM 3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Social Media Isn’t Working</a:t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548640" y="2286000"/>
            <a:ext cx="5303520" cy="2926080"/>
          </a:xfrm>
          <a:prstGeom prst="rect">
            <a:avLst/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48640" y="2286000"/>
            <a:ext cx="64008" cy="2926080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822960" y="246888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Efforts aren’t effective</a:t>
            </a:r>
            <a:endParaRPr/>
          </a:p>
        </p:txBody>
      </p:sp>
      <p:sp>
        <p:nvSpPr>
          <p:cNvPr id="167" name="Google Shape;167;p6"/>
          <p:cNvSpPr txBox="1"/>
          <p:nvPr/>
        </p:nvSpPr>
        <p:spPr>
          <a:xfrm>
            <a:off x="822960" y="3108960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They post, but don’t know what content</a:t>
            </a:r>
            <a:b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or timing actually drives donations</a:t>
            </a:r>
            <a:b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vs. just getting likes.</a:t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6309360" y="2286000"/>
            <a:ext cx="5303520" cy="2926080"/>
          </a:xfrm>
          <a:prstGeom prst="rect">
            <a:avLst/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309360" y="2286000"/>
            <a:ext cx="64008" cy="2926080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6583680" y="246888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No bandwidth to do it at all</a:t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6583680" y="3108960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The team has no marketer. Writing posts,</a:t>
            </a:r>
            <a:b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designing graphics, and scheduling takes</a:t>
            </a:r>
            <a:b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time they don’t have.</a:t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Social media is their primary way to reach donors,</a:t>
            </a:r>
            <a:br>
              <a:rPr b="0" i="1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but both the strategy and the execution are broken.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PROBLEM 4</a:t>
            </a:r>
            <a:endParaRPr/>
          </a:p>
        </p:txBody>
      </p:sp>
      <p:sp>
        <p:nvSpPr>
          <p:cNvPr id="179" name="Google Shape;179;p7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 Small Team with Sensitive Data</a:t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548640" y="2286000"/>
            <a:ext cx="5303520" cy="2743200"/>
          </a:xfrm>
          <a:prstGeom prst="rect">
            <a:avLst/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48640" y="2286000"/>
            <a:ext cx="64008" cy="2743200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822960" y="246888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Non-technical staff, no IT support</a:t>
            </a:r>
            <a:endParaRPr/>
          </a:p>
        </p:txBody>
      </p:sp>
      <p:sp>
        <p:nvSpPr>
          <p:cNvPr id="183" name="Google Shape;183;p7"/>
          <p:cNvSpPr txBox="1"/>
          <p:nvPr/>
        </p:nvSpPr>
        <p:spPr>
          <a:xfrm>
            <a:off x="822960" y="3108960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The system has to be intuitive enough</a:t>
            </a:r>
            <a:b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that safehouse staff can use it every day</a:t>
            </a:r>
            <a:b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without training or a help desk.</a:t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6309360" y="2286000"/>
            <a:ext cx="5303520" cy="2743200"/>
          </a:xfrm>
          <a:prstGeom prst="rect">
            <a:avLst/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309360" y="2286000"/>
            <a:ext cx="64008" cy="2743200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6583680" y="246888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Data involves at-risk minors</a:t>
            </a:r>
            <a:endParaRPr/>
          </a:p>
        </p:txBody>
      </p:sp>
      <p:sp>
        <p:nvSpPr>
          <p:cNvPr id="187" name="Google Shape;187;p7"/>
          <p:cNvSpPr txBox="1"/>
          <p:nvPr/>
        </p:nvSpPr>
        <p:spPr>
          <a:xfrm>
            <a:off x="6583680" y="3108960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A data leak means physical danger</a:t>
            </a:r>
            <a:b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for abuse survivors. Security isn’t a</a:t>
            </a:r>
            <a:b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feature. It’s a safety requirement.</a:t>
            </a:r>
            <a:endParaRPr/>
          </a:p>
        </p:txBody>
      </p:sp>
      <p:sp>
        <p:nvSpPr>
          <p:cNvPr id="188" name="Google Shape;188;p7"/>
          <p:cNvSpPr txBox="1"/>
          <p:nvPr/>
        </p:nvSpPr>
        <p:spPr>
          <a:xfrm>
            <a:off x="731520" y="54864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We built a platform that’s both powerful enough for complex</a:t>
            </a:r>
            <a:br>
              <a:rPr b="0" i="1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case management and simple enough for non-technical daily use.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OUR APPROACH</a:t>
            </a:r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B2D"/>
                </a:solidFill>
                <a:latin typeface="Georgia"/>
                <a:ea typeface="Georgia"/>
                <a:cs typeface="Georgia"/>
                <a:sym typeface="Georgia"/>
              </a:rPr>
              <a:t>Every Problem Mapped to a Solution</a:t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548640" y="1737360"/>
            <a:ext cx="43891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48640" y="1737360"/>
            <a:ext cx="64008" cy="731520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822960" y="1874519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Girls falling through cracks</a:t>
            </a:r>
            <a:endParaRPr/>
          </a:p>
        </p:txBody>
      </p:sp>
      <p:sp>
        <p:nvSpPr>
          <p:cNvPr id="199" name="Google Shape;199;p8"/>
          <p:cNvSpPr txBox="1"/>
          <p:nvPr/>
        </p:nvSpPr>
        <p:spPr>
          <a:xfrm>
            <a:off x="516636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5852160" y="1737360"/>
            <a:ext cx="57607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852160" y="1737360"/>
            <a:ext cx="64008" cy="731520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6126480" y="1874519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Full-stack workflow engine + ML readiness &amp; risk models</a:t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548640" y="2651760"/>
            <a:ext cx="43891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548640" y="2651760"/>
            <a:ext cx="64008" cy="731520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822960" y="27889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Donors drifting away</a:t>
            </a:r>
            <a:endParaRPr/>
          </a:p>
        </p:txBody>
      </p:sp>
      <p:sp>
        <p:nvSpPr>
          <p:cNvPr id="206" name="Google Shape;206;p8"/>
          <p:cNvSpPr txBox="1"/>
          <p:nvPr/>
        </p:nvSpPr>
        <p:spPr>
          <a:xfrm>
            <a:off x="5166360" y="2697479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5852160" y="2651760"/>
            <a:ext cx="57607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5852160" y="2651760"/>
            <a:ext cx="64008" cy="731520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6126480" y="278892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Churn prediction + fund allocation tracking</a:t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548640" y="3566160"/>
            <a:ext cx="43891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548640" y="3566160"/>
            <a:ext cx="64008" cy="731520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822960" y="37033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Social media not effective</a:t>
            </a:r>
            <a:endParaRPr/>
          </a:p>
        </p:txBody>
      </p:sp>
      <p:sp>
        <p:nvSpPr>
          <p:cNvPr id="213" name="Google Shape;213;p8"/>
          <p:cNvSpPr txBox="1"/>
          <p:nvPr/>
        </p:nvSpPr>
        <p:spPr>
          <a:xfrm>
            <a:off x="5166360" y="3611879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5852160" y="3566160"/>
            <a:ext cx="57607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852160" y="3566160"/>
            <a:ext cx="64008" cy="731520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6126480" y="370332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Content &amp; timing optimization ML pipelines</a:t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548640" y="4480560"/>
            <a:ext cx="43891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548640" y="4480560"/>
            <a:ext cx="64008" cy="731520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 txBox="1"/>
          <p:nvPr/>
        </p:nvSpPr>
        <p:spPr>
          <a:xfrm>
            <a:off x="822960" y="46177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No bandwidth for outreach</a:t>
            </a:r>
            <a:endParaRPr/>
          </a:p>
        </p:txBody>
      </p:sp>
      <p:sp>
        <p:nvSpPr>
          <p:cNvPr id="220" name="Google Shape;220;p8"/>
          <p:cNvSpPr txBox="1"/>
          <p:nvPr/>
        </p:nvSpPr>
        <p:spPr>
          <a:xfrm>
            <a:off x="5166360" y="4526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5852160" y="4480560"/>
            <a:ext cx="57607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5852160" y="4480560"/>
            <a:ext cx="64008" cy="731520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6126480" y="461772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AI social media agent + auto-newsletter</a:t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548640" y="5394960"/>
            <a:ext cx="43891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548640" y="5394960"/>
            <a:ext cx="64008" cy="731520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822960" y="55321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Small team, sensitive data</a:t>
            </a:r>
            <a:endParaRPr/>
          </a:p>
        </p:txBody>
      </p:sp>
      <p:sp>
        <p:nvSpPr>
          <p:cNvPr id="227" name="Google Shape;227;p8"/>
          <p:cNvSpPr txBox="1"/>
          <p:nvPr/>
        </p:nvSpPr>
        <p:spPr>
          <a:xfrm>
            <a:off x="5166360" y="5440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5852160" y="5394960"/>
            <a:ext cx="57607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5852160" y="5394960"/>
            <a:ext cx="64008" cy="731520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6126480" y="553212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Natural-language chatbot + intuitive UX + RBAC, CSP, GDPR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/>
          </a:p>
        </p:txBody>
      </p:sp>
      <p:sp>
        <p:nvSpPr>
          <p:cNvPr id="237" name="Google Shape;237;p9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0F1B2D"/>
                </a:solidFill>
                <a:latin typeface="Georgia"/>
                <a:ea typeface="Georgia"/>
                <a:cs typeface="Georgia"/>
                <a:sym typeface="Georgia"/>
              </a:rPr>
              <a:t>How It All Connects</a:t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3657600" y="1645920"/>
            <a:ext cx="4846320" cy="914400"/>
          </a:xfrm>
          <a:prstGeom prst="roundRect">
            <a:avLst>
              <a:gd fmla="val 16667" name="adj"/>
            </a:avLst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 txBox="1"/>
          <p:nvPr/>
        </p:nvSpPr>
        <p:spPr>
          <a:xfrm>
            <a:off x="3657600" y="164592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 19 SPA</a:t>
            </a:r>
            <a:endParaRPr/>
          </a:p>
        </p:txBody>
      </p:sp>
      <p:sp>
        <p:nvSpPr>
          <p:cNvPr id="240" name="Google Shape;240;p9"/>
          <p:cNvSpPr txBox="1"/>
          <p:nvPr/>
        </p:nvSpPr>
        <p:spPr>
          <a:xfrm>
            <a:off x="3657600" y="214884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TypeScript • Vite • Vercel CDN</a:t>
            </a:r>
            <a:endParaRPr/>
          </a:p>
        </p:txBody>
      </p:sp>
      <p:sp>
        <p:nvSpPr>
          <p:cNvPr id="241" name="Google Shape;241;p9"/>
          <p:cNvSpPr txBox="1"/>
          <p:nvPr/>
        </p:nvSpPr>
        <p:spPr>
          <a:xfrm>
            <a:off x="5852160" y="26060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1371600" y="2926080"/>
            <a:ext cx="4846320" cy="1097280"/>
          </a:xfrm>
          <a:prstGeom prst="roundRect">
            <a:avLst>
              <a:gd fmla="val 16667" name="adj"/>
            </a:avLst>
          </a:prstGeom>
          <a:solidFill>
            <a:srgbClr val="0F1B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1371600" y="2926080"/>
            <a:ext cx="4846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.NET 10 Backend</a:t>
            </a:r>
            <a:endParaRPr/>
          </a:p>
        </p:txBody>
      </p:sp>
      <p:sp>
        <p:nvSpPr>
          <p:cNvPr id="244" name="Google Shape;244;p9"/>
          <p:cNvSpPr txBox="1"/>
          <p:nvPr/>
        </p:nvSpPr>
        <p:spPr>
          <a:xfrm>
            <a:off x="1371600" y="35204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Minimal APIs • EF Core • Identity • Azure App Service</a:t>
            </a:r>
            <a:endParaRPr/>
          </a:p>
        </p:txBody>
      </p:sp>
      <p:sp>
        <p:nvSpPr>
          <p:cNvPr id="245" name="Google Shape;245;p9"/>
          <p:cNvSpPr txBox="1"/>
          <p:nvPr/>
        </p:nvSpPr>
        <p:spPr>
          <a:xfrm>
            <a:off x="6446520" y="324612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◀▶</a:t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7132320" y="2926080"/>
            <a:ext cx="4389120" cy="1097280"/>
          </a:xfrm>
          <a:prstGeom prst="roundRect">
            <a:avLst>
              <a:gd fmla="val 16667" name="adj"/>
            </a:avLst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 txBox="1"/>
          <p:nvPr/>
        </p:nvSpPr>
        <p:spPr>
          <a:xfrm>
            <a:off x="7132320" y="2926080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AI Harness</a:t>
            </a:r>
            <a:endParaRPr/>
          </a:p>
        </p:txBody>
      </p:sp>
      <p:sp>
        <p:nvSpPr>
          <p:cNvPr id="248" name="Google Shape;248;p9"/>
          <p:cNvSpPr txBox="1"/>
          <p:nvPr/>
        </p:nvSpPr>
        <p:spPr>
          <a:xfrm>
            <a:off x="7132320" y="35204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FastAPI • GPT-4o • Agentic Loops • NL-to-SQL Chatbot • Azure</a:t>
            </a:r>
            <a:endParaRPr/>
          </a:p>
        </p:txBody>
      </p:sp>
      <p:sp>
        <p:nvSpPr>
          <p:cNvPr id="249" name="Google Shape;249;p9"/>
          <p:cNvSpPr txBox="1"/>
          <p:nvPr/>
        </p:nvSpPr>
        <p:spPr>
          <a:xfrm>
            <a:off x="2468880" y="4069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/>
          </a:p>
        </p:txBody>
      </p:sp>
      <p:sp>
        <p:nvSpPr>
          <p:cNvPr id="250" name="Google Shape;250;p9"/>
          <p:cNvSpPr txBox="1"/>
          <p:nvPr/>
        </p:nvSpPr>
        <p:spPr>
          <a:xfrm>
            <a:off x="4846320" y="4069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/>
          </a:p>
        </p:txBody>
      </p:sp>
      <p:sp>
        <p:nvSpPr>
          <p:cNvPr id="251" name="Google Shape;251;p9"/>
          <p:cNvSpPr txBox="1"/>
          <p:nvPr/>
        </p:nvSpPr>
        <p:spPr>
          <a:xfrm>
            <a:off x="9144000" y="4069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/>
          </a:p>
        </p:txBody>
      </p:sp>
      <p:sp>
        <p:nvSpPr>
          <p:cNvPr id="252" name="Google Shape;252;p9"/>
          <p:cNvSpPr txBox="1"/>
          <p:nvPr/>
        </p:nvSpPr>
        <p:spPr>
          <a:xfrm>
            <a:off x="9601200" y="40690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D7F"/>
                </a:solidFill>
                <a:latin typeface="Calibri"/>
                <a:ea typeface="Calibri"/>
                <a:cs typeface="Calibri"/>
                <a:sym typeface="Calibri"/>
              </a:rPr>
              <a:t>reads</a:t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457200" y="4434840"/>
            <a:ext cx="2560320" cy="914400"/>
          </a:xfrm>
          <a:prstGeom prst="roundRect">
            <a:avLst>
              <a:gd fmla="val 16667" name="adj"/>
            </a:avLst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 txBox="1"/>
          <p:nvPr/>
        </p:nvSpPr>
        <p:spPr>
          <a:xfrm>
            <a:off x="457200" y="44348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Azure Blob</a:t>
            </a:r>
            <a:endParaRPr/>
          </a:p>
        </p:txBody>
      </p:sp>
      <p:sp>
        <p:nvSpPr>
          <p:cNvPr id="255" name="Google Shape;255;p9"/>
          <p:cNvSpPr txBox="1"/>
          <p:nvPr/>
        </p:nvSpPr>
        <p:spPr>
          <a:xfrm>
            <a:off x="457200" y="49377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Photos • Graphics</a:t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3291840" y="4434840"/>
            <a:ext cx="4846320" cy="914400"/>
          </a:xfrm>
          <a:prstGeom prst="roundRect">
            <a:avLst>
              <a:gd fmla="val 16667" name="adj"/>
            </a:avLst>
          </a:prstGeom>
          <a:solidFill>
            <a:srgbClr val="0B75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 txBox="1"/>
          <p:nvPr/>
        </p:nvSpPr>
        <p:spPr>
          <a:xfrm>
            <a:off x="3291840" y="443484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Azure PostgreSQL</a:t>
            </a:r>
            <a:endParaRPr/>
          </a:p>
        </p:txBody>
      </p:sp>
      <p:sp>
        <p:nvSpPr>
          <p:cNvPr id="258" name="Google Shape;258;p9"/>
          <p:cNvSpPr txBox="1"/>
          <p:nvPr/>
        </p:nvSpPr>
        <p:spPr>
          <a:xfrm>
            <a:off x="3291840" y="493776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49 tables • The shared data hub for everything</a:t>
            </a:r>
            <a:endParaRPr/>
          </a:p>
        </p:txBody>
      </p:sp>
      <p:sp>
        <p:nvSpPr>
          <p:cNvPr id="259" name="Google Shape;259;p9"/>
          <p:cNvSpPr txBox="1"/>
          <p:nvPr/>
        </p:nvSpPr>
        <p:spPr>
          <a:xfrm>
            <a:off x="5486400" y="539496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▲</a:t>
            </a:r>
            <a:endParaRPr/>
          </a:p>
        </p:txBody>
      </p:sp>
      <p:sp>
        <p:nvSpPr>
          <p:cNvPr id="260" name="Google Shape;260;p9"/>
          <p:cNvSpPr txBox="1"/>
          <p:nvPr/>
        </p:nvSpPr>
        <p:spPr>
          <a:xfrm>
            <a:off x="6035040" y="542239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D7F"/>
                </a:solidFill>
                <a:latin typeface="Calibri"/>
                <a:ea typeface="Calibri"/>
                <a:cs typeface="Calibri"/>
                <a:sym typeface="Calibri"/>
              </a:rPr>
              <a:t>writes predictions</a:t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3291840" y="5760720"/>
            <a:ext cx="4846320" cy="777240"/>
          </a:xfrm>
          <a:prstGeom prst="roundRect">
            <a:avLst>
              <a:gd fmla="val 16667" name="adj"/>
            </a:avLst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 txBox="1"/>
          <p:nvPr/>
        </p:nvSpPr>
        <p:spPr>
          <a:xfrm>
            <a:off x="3291840" y="5760720"/>
            <a:ext cx="4846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ML Pipeline  •  Python • 8 models • GitHub Actions nightly at 3 AM</a:t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8686800" y="4434840"/>
            <a:ext cx="3017520" cy="2103120"/>
          </a:xfrm>
          <a:prstGeom prst="rect">
            <a:avLst/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8823960" y="4526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SECURITY &amp; CI/CD</a:t>
            </a:r>
            <a:endParaRPr/>
          </a:p>
        </p:txBody>
      </p:sp>
      <p:sp>
        <p:nvSpPr>
          <p:cNvPr id="265" name="Google Shape;265;p9"/>
          <p:cNvSpPr txBox="1"/>
          <p:nvPr/>
        </p:nvSpPr>
        <p:spPr>
          <a:xfrm>
            <a:off x="8823960" y="489204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GitHub Actions workflows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HTTPS/TLS everywhere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CSP • HSTS • RBAC • CORS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Cookie auth • Account lockout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Staff scoped to safehouses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 txBox="1"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THE PLATFORM</a:t>
            </a:r>
            <a:endParaRPr/>
          </a:p>
        </p:txBody>
      </p:sp>
      <p:sp>
        <p:nvSpPr>
          <p:cNvPr id="272" name="Google Shape;272;p10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 Workflow Engine, Not a Database</a:t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274320" y="2011680"/>
            <a:ext cx="1463040" cy="1005840"/>
          </a:xfrm>
          <a:prstGeom prst="roundRect">
            <a:avLst>
              <a:gd fmla="val 16667" name="adj"/>
            </a:avLst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 txBox="1"/>
          <p:nvPr/>
        </p:nvSpPr>
        <p:spPr>
          <a:xfrm>
            <a:off x="274320" y="2011680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Trauma</a:t>
            </a:r>
            <a:br>
              <a:rPr b="1" i="0" lang="en-US" sz="12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Occurs</a:t>
            </a:r>
            <a:endParaRPr/>
          </a:p>
        </p:txBody>
      </p:sp>
      <p:sp>
        <p:nvSpPr>
          <p:cNvPr id="275" name="Google Shape;275;p10"/>
          <p:cNvSpPr txBox="1"/>
          <p:nvPr/>
        </p:nvSpPr>
        <p:spPr>
          <a:xfrm>
            <a:off x="1755648" y="224028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1965960" y="2011680"/>
            <a:ext cx="1463040" cy="1005840"/>
          </a:xfrm>
          <a:prstGeom prst="roundRect">
            <a:avLst>
              <a:gd fmla="val 16667" name="adj"/>
            </a:avLst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 txBox="1"/>
          <p:nvPr/>
        </p:nvSpPr>
        <p:spPr>
          <a:xfrm>
            <a:off x="1965960" y="2011680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Referral</a:t>
            </a:r>
            <a:endParaRPr/>
          </a:p>
        </p:txBody>
      </p:sp>
      <p:sp>
        <p:nvSpPr>
          <p:cNvPr id="278" name="Google Shape;278;p10"/>
          <p:cNvSpPr txBox="1"/>
          <p:nvPr/>
        </p:nvSpPr>
        <p:spPr>
          <a:xfrm>
            <a:off x="3447288" y="224028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3657600" y="2011680"/>
            <a:ext cx="1463040" cy="1005840"/>
          </a:xfrm>
          <a:prstGeom prst="roundRect">
            <a:avLst>
              <a:gd fmla="val 16667" name="adj"/>
            </a:avLst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3657600" y="2011680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Intake &amp;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Admission</a:t>
            </a:r>
            <a:endParaRPr/>
          </a:p>
        </p:txBody>
      </p:sp>
      <p:sp>
        <p:nvSpPr>
          <p:cNvPr id="281" name="Google Shape;281;p10"/>
          <p:cNvSpPr txBox="1"/>
          <p:nvPr/>
        </p:nvSpPr>
        <p:spPr>
          <a:xfrm>
            <a:off x="5138928" y="224028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5349240" y="2011680"/>
            <a:ext cx="1463040" cy="1005840"/>
          </a:xfrm>
          <a:prstGeom prst="roundRect">
            <a:avLst>
              <a:gd fmla="val 16667" name="adj"/>
            </a:avLst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 txBox="1"/>
          <p:nvPr/>
        </p:nvSpPr>
        <p:spPr>
          <a:xfrm>
            <a:off x="5349240" y="2011680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Residential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Care</a:t>
            </a:r>
            <a:endParaRPr/>
          </a:p>
        </p:txBody>
      </p:sp>
      <p:sp>
        <p:nvSpPr>
          <p:cNvPr id="284" name="Google Shape;284;p10"/>
          <p:cNvSpPr txBox="1"/>
          <p:nvPr/>
        </p:nvSpPr>
        <p:spPr>
          <a:xfrm>
            <a:off x="6830568" y="224028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7040880" y="2011680"/>
            <a:ext cx="1463040" cy="1005840"/>
          </a:xfrm>
          <a:prstGeom prst="roundRect">
            <a:avLst>
              <a:gd fmla="val 16667" name="adj"/>
            </a:avLst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 txBox="1"/>
          <p:nvPr/>
        </p:nvSpPr>
        <p:spPr>
          <a:xfrm>
            <a:off x="7040880" y="2011680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Reintegration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/>
          </a:p>
        </p:txBody>
      </p:sp>
      <p:sp>
        <p:nvSpPr>
          <p:cNvPr id="287" name="Google Shape;287;p10"/>
          <p:cNvSpPr txBox="1"/>
          <p:nvPr/>
        </p:nvSpPr>
        <p:spPr>
          <a:xfrm>
            <a:off x="8522208" y="224028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8732520" y="2011680"/>
            <a:ext cx="1463040" cy="1005840"/>
          </a:xfrm>
          <a:prstGeom prst="roundRect">
            <a:avLst>
              <a:gd fmla="val 16667" name="adj"/>
            </a:avLst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 txBox="1"/>
          <p:nvPr/>
        </p:nvSpPr>
        <p:spPr>
          <a:xfrm>
            <a:off x="8732520" y="2011680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Pathways &amp;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Placement</a:t>
            </a:r>
            <a:endParaRPr/>
          </a:p>
        </p:txBody>
      </p:sp>
      <p:sp>
        <p:nvSpPr>
          <p:cNvPr id="290" name="Google Shape;290;p10"/>
          <p:cNvSpPr txBox="1"/>
          <p:nvPr/>
        </p:nvSpPr>
        <p:spPr>
          <a:xfrm>
            <a:off x="10213848" y="224028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10424160" y="2011680"/>
            <a:ext cx="1463040" cy="1005840"/>
          </a:xfrm>
          <a:prstGeom prst="roundRect">
            <a:avLst>
              <a:gd fmla="val 16667" name="adj"/>
            </a:avLst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 txBox="1"/>
          <p:nvPr/>
        </p:nvSpPr>
        <p:spPr>
          <a:xfrm>
            <a:off x="10424160" y="2011680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Post-Care</a:t>
            </a:r>
            <a:br>
              <a:rPr b="1" i="0" lang="en-US" sz="12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&amp; Closure</a:t>
            </a:r>
            <a:endParaRPr/>
          </a:p>
        </p:txBody>
      </p:sp>
      <p:sp>
        <p:nvSpPr>
          <p:cNvPr id="293" name="Google Shape;293;p10"/>
          <p:cNvSpPr txBox="1"/>
          <p:nvPr/>
        </p:nvSpPr>
        <p:spPr>
          <a:xfrm>
            <a:off x="3977639" y="31546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↑ ML</a:t>
            </a:r>
            <a:endParaRPr/>
          </a:p>
        </p:txBody>
      </p:sp>
      <p:sp>
        <p:nvSpPr>
          <p:cNvPr id="294" name="Google Shape;294;p10"/>
          <p:cNvSpPr txBox="1"/>
          <p:nvPr/>
        </p:nvSpPr>
        <p:spPr>
          <a:xfrm>
            <a:off x="3703320" y="34747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Incident</a:t>
            </a:r>
            <a:br>
              <a:rPr b="0" i="0" lang="en-US" sz="11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/>
          </a:p>
        </p:txBody>
      </p:sp>
      <p:sp>
        <p:nvSpPr>
          <p:cNvPr id="295" name="Google Shape;295;p10"/>
          <p:cNvSpPr txBox="1"/>
          <p:nvPr/>
        </p:nvSpPr>
        <p:spPr>
          <a:xfrm>
            <a:off x="7315200" y="31546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↑ ML</a:t>
            </a:r>
            <a:endParaRPr/>
          </a:p>
        </p:txBody>
      </p:sp>
      <p:sp>
        <p:nvSpPr>
          <p:cNvPr id="296" name="Google Shape;296;p10"/>
          <p:cNvSpPr txBox="1"/>
          <p:nvPr/>
        </p:nvSpPr>
        <p:spPr>
          <a:xfrm>
            <a:off x="7040880" y="34747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Readiness</a:t>
            </a:r>
            <a:br>
              <a:rPr b="0" i="0" lang="en-US" sz="11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scoring</a:t>
            </a:r>
            <a:endParaRPr/>
          </a:p>
        </p:txBody>
      </p:sp>
      <p:sp>
        <p:nvSpPr>
          <p:cNvPr id="297" name="Google Shape;297;p10"/>
          <p:cNvSpPr txBox="1"/>
          <p:nvPr/>
        </p:nvSpPr>
        <p:spPr>
          <a:xfrm>
            <a:off x="731520" y="42976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This isn’t a record-keeping system.</a:t>
            </a:r>
            <a:endParaRPr/>
          </a:p>
        </p:txBody>
      </p:sp>
      <p:sp>
        <p:nvSpPr>
          <p:cNvPr id="298" name="Google Shape;298;p10"/>
          <p:cNvSpPr txBox="1"/>
          <p:nvPr/>
        </p:nvSpPr>
        <p:spPr>
          <a:xfrm>
            <a:off x="731520" y="4846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It guides staff through every step of the care lifecycle, from the moment</a:t>
            </a:r>
            <a:br>
              <a:rPr b="0" i="0" lang="en-US" sz="18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a girl is referred to the day she’s safely reintegrated and beyond.</a:t>
            </a:r>
            <a:endParaRPr/>
          </a:p>
        </p:txBody>
      </p:sp>
      <p:sp>
        <p:nvSpPr>
          <p:cNvPr id="299" name="Google Shape;299;p10"/>
          <p:cNvSpPr txBox="1"/>
          <p:nvPr/>
        </p:nvSpPr>
        <p:spPr>
          <a:xfrm>
            <a:off x="731520" y="566928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Automated todo items, calendar events, recurring check-ins,</a:t>
            </a:r>
            <a:br>
              <a:rPr b="0" i="1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and ML predictions embedded at the moments that matter most.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 txBox="1"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DAILY OPERATIONS</a:t>
            </a:r>
            <a:endParaRPr/>
          </a:p>
        </p:txBody>
      </p:sp>
      <p:sp>
        <p:nvSpPr>
          <p:cNvPr id="306" name="Google Shape;306;p11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0F1B2D"/>
                </a:solidFill>
                <a:latin typeface="Georgia"/>
                <a:ea typeface="Georgia"/>
                <a:cs typeface="Georgia"/>
                <a:sym typeface="Georgia"/>
              </a:rPr>
              <a:t>What Staff See Every Day</a:t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548640" y="1828800"/>
            <a:ext cx="34747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548640" y="1828800"/>
            <a:ext cx="3474720" cy="54864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 txBox="1"/>
          <p:nvPr/>
        </p:nvSpPr>
        <p:spPr>
          <a:xfrm>
            <a:off x="731520" y="20574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Education</a:t>
            </a:r>
            <a:endParaRPr/>
          </a:p>
        </p:txBody>
      </p:sp>
      <p:sp>
        <p:nvSpPr>
          <p:cNvPr id="310" name="Google Shape;310;p11"/>
          <p:cNvSpPr txBox="1"/>
          <p:nvPr/>
        </p:nvSpPr>
        <p:spPr>
          <a:xfrm>
            <a:off x="731520" y="256032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Enrollment, grade tracking,</a:t>
            </a:r>
            <a:br>
              <a:rPr b="0" i="0" lang="en-US" sz="15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tutoring schedules</a:t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4297679" y="1828800"/>
            <a:ext cx="34747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4297679" y="1828800"/>
            <a:ext cx="3474720" cy="54864"/>
          </a:xfrm>
          <a:prstGeom prst="rect">
            <a:avLst/>
          </a:prstGeom>
          <a:solidFill>
            <a:srgbClr val="0B75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 txBox="1"/>
          <p:nvPr/>
        </p:nvSpPr>
        <p:spPr>
          <a:xfrm>
            <a:off x="4480559" y="20574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Health</a:t>
            </a:r>
            <a:endParaRPr/>
          </a:p>
        </p:txBody>
      </p:sp>
      <p:sp>
        <p:nvSpPr>
          <p:cNvPr id="314" name="Google Shape;314;p11"/>
          <p:cNvSpPr txBox="1"/>
          <p:nvPr/>
        </p:nvSpPr>
        <p:spPr>
          <a:xfrm>
            <a:off x="4480559" y="256032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Medical records, appointments,</a:t>
            </a:r>
            <a:br>
              <a:rPr b="0" i="0" lang="en-US" sz="15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medication tracking</a:t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8046719" y="1828800"/>
            <a:ext cx="34747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8046719" y="1828800"/>
            <a:ext cx="3474720" cy="54864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 txBox="1"/>
          <p:nvPr/>
        </p:nvSpPr>
        <p:spPr>
          <a:xfrm>
            <a:off x="8229599" y="20574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Counseling</a:t>
            </a:r>
            <a:endParaRPr/>
          </a:p>
        </p:txBody>
      </p:sp>
      <p:sp>
        <p:nvSpPr>
          <p:cNvPr id="318" name="Google Shape;318;p11"/>
          <p:cNvSpPr txBox="1"/>
          <p:nvPr/>
        </p:nvSpPr>
        <p:spPr>
          <a:xfrm>
            <a:off x="8229599" y="256032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Session notes, voice</a:t>
            </a:r>
            <a:br>
              <a:rPr b="0" i="0" lang="en-US" sz="15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transcription, goals</a:t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548640" y="4114800"/>
            <a:ext cx="34747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548640" y="4114800"/>
            <a:ext cx="3474720" cy="54864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 txBox="1"/>
          <p:nvPr/>
        </p:nvSpPr>
        <p:spPr>
          <a:xfrm>
            <a:off x="731520" y="43434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Incidents</a:t>
            </a:r>
            <a:endParaRPr/>
          </a:p>
        </p:txBody>
      </p:sp>
      <p:sp>
        <p:nvSpPr>
          <p:cNvPr id="322" name="Google Shape;322;p11"/>
          <p:cNvSpPr txBox="1"/>
          <p:nvPr/>
        </p:nvSpPr>
        <p:spPr>
          <a:xfrm>
            <a:off x="731520" y="484632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Reporting, ML risk alerts,</a:t>
            </a:r>
            <a:br>
              <a:rPr b="0" i="0" lang="en-US" sz="15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follow-up workflows</a:t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4297679" y="4114800"/>
            <a:ext cx="34747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4297679" y="4114800"/>
            <a:ext cx="3474720" cy="54864"/>
          </a:xfrm>
          <a:prstGeom prst="rect">
            <a:avLst/>
          </a:prstGeom>
          <a:solidFill>
            <a:srgbClr val="0B75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4480559" y="43434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Visitation</a:t>
            </a:r>
            <a:endParaRPr/>
          </a:p>
        </p:txBody>
      </p:sp>
      <p:sp>
        <p:nvSpPr>
          <p:cNvPr id="326" name="Google Shape;326;p11"/>
          <p:cNvSpPr txBox="1"/>
          <p:nvPr/>
        </p:nvSpPr>
        <p:spPr>
          <a:xfrm>
            <a:off x="4480559" y="484632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Scheduling, consent,</a:t>
            </a:r>
            <a:br>
              <a:rPr b="0" i="0" lang="en-US" sz="15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supervision logs</a:t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8046719" y="4114800"/>
            <a:ext cx="34747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8046719" y="4114800"/>
            <a:ext cx="3474720" cy="54864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 txBox="1"/>
          <p:nvPr/>
        </p:nvSpPr>
        <p:spPr>
          <a:xfrm>
            <a:off x="8229599" y="43434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Conferences</a:t>
            </a:r>
            <a:endParaRPr/>
          </a:p>
        </p:txBody>
      </p:sp>
      <p:sp>
        <p:nvSpPr>
          <p:cNvPr id="330" name="Google Shape;330;p11"/>
          <p:cNvSpPr txBox="1"/>
          <p:nvPr/>
        </p:nvSpPr>
        <p:spPr>
          <a:xfrm>
            <a:off x="8229599" y="484632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Case reviews, ML-flagged</a:t>
            </a:r>
            <a:br>
              <a:rPr b="0" i="0" lang="en-US" sz="15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agenda items, outcomes</a:t>
            </a:r>
            <a:endParaRPr/>
          </a:p>
        </p:txBody>
      </p:sp>
      <p:sp>
        <p:nvSpPr>
          <p:cNvPr id="331" name="Google Shape;331;p11"/>
          <p:cNvSpPr txBox="1"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F6D7F"/>
                </a:solidFill>
                <a:latin typeface="Calibri"/>
                <a:ea typeface="Calibri"/>
                <a:cs typeface="Calibri"/>
                <a:sym typeface="Calibri"/>
              </a:rPr>
              <a:t>Every track generates automated todos. Staff can also ask the AI chatbot questions about their data in plain English.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 txBox="1"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THE PLATFORM</a:t>
            </a:r>
            <a:endParaRPr/>
          </a:p>
        </p:txBody>
      </p:sp>
      <p:sp>
        <p:nvSpPr>
          <p:cNvPr id="338" name="Google Shape;338;p1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Ask Your Data Anything</a:t>
            </a:r>
            <a:endParaRPr/>
          </a:p>
        </p:txBody>
      </p:sp>
      <p:sp>
        <p:nvSpPr>
          <p:cNvPr id="339" name="Google Shape;339;p12"/>
          <p:cNvSpPr txBox="1"/>
          <p:nvPr/>
        </p:nvSpPr>
        <p:spPr>
          <a:xfrm>
            <a:off x="731520" y="15087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Staff type plain English. The AI returns answers, tables, and charts.</a:t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457200" y="2286000"/>
            <a:ext cx="1920240" cy="1005840"/>
          </a:xfrm>
          <a:prstGeom prst="roundRect">
            <a:avLst>
              <a:gd fmla="val 16667" name="adj"/>
            </a:avLst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457200" y="2286000"/>
            <a:ext cx="1920240" cy="54864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 txBox="1"/>
          <p:nvPr/>
        </p:nvSpPr>
        <p:spPr>
          <a:xfrm>
            <a:off x="457200" y="2423160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Plain English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/>
          </a:p>
        </p:txBody>
      </p:sp>
      <p:sp>
        <p:nvSpPr>
          <p:cNvPr id="343" name="Google Shape;343;p12"/>
          <p:cNvSpPr txBox="1"/>
          <p:nvPr/>
        </p:nvSpPr>
        <p:spPr>
          <a:xfrm>
            <a:off x="2423160" y="251460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E455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44" name="Google Shape;344;p12"/>
          <p:cNvSpPr/>
          <p:nvPr/>
        </p:nvSpPr>
        <p:spPr>
          <a:xfrm>
            <a:off x="2788920" y="2286000"/>
            <a:ext cx="1920240" cy="1005840"/>
          </a:xfrm>
          <a:prstGeom prst="roundRect">
            <a:avLst>
              <a:gd fmla="val 16667" name="adj"/>
            </a:avLst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2788920" y="2286000"/>
            <a:ext cx="1920240" cy="54864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 txBox="1"/>
          <p:nvPr/>
        </p:nvSpPr>
        <p:spPr>
          <a:xfrm>
            <a:off x="2788920" y="2423160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Vanna AI +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OpenAI</a:t>
            </a:r>
            <a:endParaRPr/>
          </a:p>
        </p:txBody>
      </p:sp>
      <p:sp>
        <p:nvSpPr>
          <p:cNvPr id="347" name="Google Shape;347;p12"/>
          <p:cNvSpPr txBox="1"/>
          <p:nvPr/>
        </p:nvSpPr>
        <p:spPr>
          <a:xfrm>
            <a:off x="4754879" y="251460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E455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48" name="Google Shape;348;p12"/>
          <p:cNvSpPr/>
          <p:nvPr/>
        </p:nvSpPr>
        <p:spPr>
          <a:xfrm>
            <a:off x="5120640" y="2286000"/>
            <a:ext cx="1920240" cy="1005840"/>
          </a:xfrm>
          <a:prstGeom prst="roundRect">
            <a:avLst>
              <a:gd fmla="val 16667" name="adj"/>
            </a:avLst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5120640" y="2286000"/>
            <a:ext cx="1920240" cy="54864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 txBox="1"/>
          <p:nvPr/>
        </p:nvSpPr>
        <p:spPr>
          <a:xfrm>
            <a:off x="5120640" y="2423160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Secure SQL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Generation</a:t>
            </a:r>
            <a:endParaRPr/>
          </a:p>
        </p:txBody>
      </p:sp>
      <p:sp>
        <p:nvSpPr>
          <p:cNvPr id="351" name="Google Shape;351;p12"/>
          <p:cNvSpPr txBox="1"/>
          <p:nvPr/>
        </p:nvSpPr>
        <p:spPr>
          <a:xfrm>
            <a:off x="7086600" y="251460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E455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7452359" y="2286000"/>
            <a:ext cx="1920240" cy="1005840"/>
          </a:xfrm>
          <a:prstGeom prst="roundRect">
            <a:avLst>
              <a:gd fmla="val 16667" name="adj"/>
            </a:avLst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7452359" y="2286000"/>
            <a:ext cx="1920240" cy="54864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 txBox="1"/>
          <p:nvPr/>
        </p:nvSpPr>
        <p:spPr>
          <a:xfrm>
            <a:off x="7452359" y="2423160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(read-only)</a:t>
            </a:r>
            <a:endParaRPr/>
          </a:p>
        </p:txBody>
      </p:sp>
      <p:sp>
        <p:nvSpPr>
          <p:cNvPr id="355" name="Google Shape;355;p12"/>
          <p:cNvSpPr txBox="1"/>
          <p:nvPr/>
        </p:nvSpPr>
        <p:spPr>
          <a:xfrm>
            <a:off x="9418319" y="251460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E455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9784080" y="2286000"/>
            <a:ext cx="1920240" cy="1005840"/>
          </a:xfrm>
          <a:prstGeom prst="roundRect">
            <a:avLst>
              <a:gd fmla="val 16667" name="adj"/>
            </a:avLst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9784080" y="2286000"/>
            <a:ext cx="1920240" cy="54864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 txBox="1"/>
          <p:nvPr/>
        </p:nvSpPr>
        <p:spPr>
          <a:xfrm>
            <a:off x="9784080" y="2423160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 +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Chart</a:t>
            </a: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457200" y="3749039"/>
            <a:ext cx="3566160" cy="1554480"/>
          </a:xfrm>
          <a:prstGeom prst="rect">
            <a:avLst/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457200" y="3749039"/>
            <a:ext cx="64008" cy="1554480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 txBox="1"/>
          <p:nvPr/>
        </p:nvSpPr>
        <p:spPr>
          <a:xfrm>
            <a:off x="731520" y="39319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Least-Privilege</a:t>
            </a:r>
            <a:endParaRPr/>
          </a:p>
        </p:txBody>
      </p:sp>
      <p:sp>
        <p:nvSpPr>
          <p:cNvPr id="362" name="Google Shape;362;p12"/>
          <p:cNvSpPr txBox="1"/>
          <p:nvPr/>
        </p:nvSpPr>
        <p:spPr>
          <a:xfrm>
            <a:off x="731520" y="438912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Staff only see their</a:t>
            </a:r>
            <a:br>
              <a:rPr b="0" i="0" lang="en-US" sz="15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assigned safehouses</a:t>
            </a:r>
            <a:endParaRPr/>
          </a:p>
        </p:txBody>
      </p:sp>
      <p:sp>
        <p:nvSpPr>
          <p:cNvPr id="363" name="Google Shape;363;p12"/>
          <p:cNvSpPr/>
          <p:nvPr/>
        </p:nvSpPr>
        <p:spPr>
          <a:xfrm>
            <a:off x="4297680" y="3749039"/>
            <a:ext cx="3566160" cy="1554480"/>
          </a:xfrm>
          <a:prstGeom prst="rect">
            <a:avLst/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4297680" y="3749039"/>
            <a:ext cx="64008" cy="1554480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 txBox="1"/>
          <p:nvPr/>
        </p:nvSpPr>
        <p:spPr>
          <a:xfrm>
            <a:off x="4572000" y="39319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Auto-Visualization</a:t>
            </a:r>
            <a:endParaRPr/>
          </a:p>
        </p:txBody>
      </p:sp>
      <p:sp>
        <p:nvSpPr>
          <p:cNvPr id="366" name="Google Shape;366;p12"/>
          <p:cNvSpPr txBox="1"/>
          <p:nvPr/>
        </p:nvSpPr>
        <p:spPr>
          <a:xfrm>
            <a:off x="4572000" y="438912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Bar charts, line graphs,</a:t>
            </a:r>
            <a:br>
              <a:rPr b="0" i="0" lang="en-US" sz="15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and tables on demand</a:t>
            </a:r>
            <a:endParaRPr/>
          </a:p>
        </p:txBody>
      </p:sp>
      <p:sp>
        <p:nvSpPr>
          <p:cNvPr id="367" name="Google Shape;367;p12"/>
          <p:cNvSpPr/>
          <p:nvPr/>
        </p:nvSpPr>
        <p:spPr>
          <a:xfrm>
            <a:off x="8138160" y="3749039"/>
            <a:ext cx="3566160" cy="1554480"/>
          </a:xfrm>
          <a:prstGeom prst="rect">
            <a:avLst/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8138160" y="3749039"/>
            <a:ext cx="64008" cy="1554480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 txBox="1"/>
          <p:nvPr/>
        </p:nvSpPr>
        <p:spPr>
          <a:xfrm>
            <a:off x="8412480" y="39319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Zero SQL Required</a:t>
            </a:r>
            <a:endParaRPr/>
          </a:p>
        </p:txBody>
      </p:sp>
      <p:sp>
        <p:nvSpPr>
          <p:cNvPr id="370" name="Google Shape;370;p12"/>
          <p:cNvSpPr txBox="1"/>
          <p:nvPr/>
        </p:nvSpPr>
        <p:spPr>
          <a:xfrm>
            <a:off x="8412480" y="438912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Built for a team</a:t>
            </a:r>
            <a:br>
              <a:rPr b="0" i="0" lang="en-US" sz="15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with no IT support</a:t>
            </a:r>
            <a:endParaRPr/>
          </a:p>
        </p:txBody>
      </p:sp>
      <p:sp>
        <p:nvSpPr>
          <p:cNvPr id="371" name="Google Shape;371;p12"/>
          <p:cNvSpPr txBox="1"/>
          <p:nvPr/>
        </p:nvSpPr>
        <p:spPr>
          <a:xfrm>
            <a:off x="1066647" y="56692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Vanna AI  •  OpenAI  •  FastAPI microservice  •  49 tables  •  Read-only connection  •  Deployed on Azure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 txBox="1"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DONOR NURTURING</a:t>
            </a:r>
            <a:endParaRPr/>
          </a:p>
        </p:txBody>
      </p:sp>
      <p:sp>
        <p:nvSpPr>
          <p:cNvPr id="378" name="Google Shape;378;p1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AI Social Media Manager</a:t>
            </a:r>
            <a:endParaRPr/>
          </a:p>
        </p:txBody>
      </p:sp>
      <p:sp>
        <p:nvSpPr>
          <p:cNvPr id="379" name="Google Shape;379;p13"/>
          <p:cNvSpPr/>
          <p:nvPr/>
        </p:nvSpPr>
        <p:spPr>
          <a:xfrm>
            <a:off x="868680" y="2011680"/>
            <a:ext cx="822960" cy="822960"/>
          </a:xfrm>
          <a:prstGeom prst="ellipse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 txBox="1"/>
          <p:nvPr/>
        </p:nvSpPr>
        <p:spPr>
          <a:xfrm>
            <a:off x="868680" y="20116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1" name="Google Shape;381;p13"/>
          <p:cNvSpPr txBox="1"/>
          <p:nvPr/>
        </p:nvSpPr>
        <p:spPr>
          <a:xfrm>
            <a:off x="1828800" y="219456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E455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82" name="Google Shape;382;p13"/>
          <p:cNvSpPr txBox="1"/>
          <p:nvPr/>
        </p:nvSpPr>
        <p:spPr>
          <a:xfrm>
            <a:off x="365760" y="301752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Capture</a:t>
            </a:r>
            <a:endParaRPr/>
          </a:p>
        </p:txBody>
      </p:sp>
      <p:sp>
        <p:nvSpPr>
          <p:cNvPr id="383" name="Google Shape;383;p13"/>
          <p:cNvSpPr txBox="1"/>
          <p:nvPr/>
        </p:nvSpPr>
        <p:spPr>
          <a:xfrm>
            <a:off x="365760" y="352044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Staff snap photos</a:t>
            </a:r>
            <a:b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throughout the week</a:t>
            </a: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3200400" y="2011680"/>
            <a:ext cx="822960" cy="822960"/>
          </a:xfrm>
          <a:prstGeom prst="ellipse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 txBox="1"/>
          <p:nvPr/>
        </p:nvSpPr>
        <p:spPr>
          <a:xfrm>
            <a:off x="3200400" y="20116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86" name="Google Shape;386;p13"/>
          <p:cNvSpPr txBox="1"/>
          <p:nvPr/>
        </p:nvSpPr>
        <p:spPr>
          <a:xfrm>
            <a:off x="4160520" y="219456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E455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87" name="Google Shape;387;p13"/>
          <p:cNvSpPr txBox="1"/>
          <p:nvPr/>
        </p:nvSpPr>
        <p:spPr>
          <a:xfrm>
            <a:off x="2697479" y="301752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endParaRPr/>
          </a:p>
        </p:txBody>
      </p:sp>
      <p:sp>
        <p:nvSpPr>
          <p:cNvPr id="388" name="Google Shape;388;p13"/>
          <p:cNvSpPr txBox="1"/>
          <p:nvPr/>
        </p:nvSpPr>
        <p:spPr>
          <a:xfrm>
            <a:off x="2697479" y="352044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LLM drafts posts</a:t>
            </a:r>
            <a:b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from org-level data</a:t>
            </a:r>
            <a:endParaRPr/>
          </a:p>
        </p:txBody>
      </p:sp>
      <p:sp>
        <p:nvSpPr>
          <p:cNvPr id="389" name="Google Shape;389;p13"/>
          <p:cNvSpPr/>
          <p:nvPr/>
        </p:nvSpPr>
        <p:spPr>
          <a:xfrm>
            <a:off x="5532120" y="2011680"/>
            <a:ext cx="822960" cy="822960"/>
          </a:xfrm>
          <a:prstGeom prst="ellipse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 txBox="1"/>
          <p:nvPr/>
        </p:nvSpPr>
        <p:spPr>
          <a:xfrm>
            <a:off x="5532120" y="20116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91" name="Google Shape;391;p13"/>
          <p:cNvSpPr txBox="1"/>
          <p:nvPr/>
        </p:nvSpPr>
        <p:spPr>
          <a:xfrm>
            <a:off x="6492240" y="219456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E455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92" name="Google Shape;392;p13"/>
          <p:cNvSpPr txBox="1"/>
          <p:nvPr/>
        </p:nvSpPr>
        <p:spPr>
          <a:xfrm>
            <a:off x="5029200" y="301752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Approve</a:t>
            </a:r>
            <a:endParaRPr/>
          </a:p>
        </p:txBody>
      </p:sp>
      <p:sp>
        <p:nvSpPr>
          <p:cNvPr id="393" name="Google Shape;393;p13"/>
          <p:cNvSpPr txBox="1"/>
          <p:nvPr/>
        </p:nvSpPr>
        <p:spPr>
          <a:xfrm>
            <a:off x="5029200" y="352044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Staff reviews and</a:t>
            </a:r>
            <a:b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approves drafts</a:t>
            </a:r>
            <a:endParaRPr/>
          </a:p>
        </p:txBody>
      </p:sp>
      <p:sp>
        <p:nvSpPr>
          <p:cNvPr id="394" name="Google Shape;394;p13"/>
          <p:cNvSpPr/>
          <p:nvPr/>
        </p:nvSpPr>
        <p:spPr>
          <a:xfrm>
            <a:off x="7863840" y="2011680"/>
            <a:ext cx="822960" cy="822960"/>
          </a:xfrm>
          <a:prstGeom prst="ellipse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 txBox="1"/>
          <p:nvPr/>
        </p:nvSpPr>
        <p:spPr>
          <a:xfrm>
            <a:off x="7863840" y="20116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96" name="Google Shape;396;p13"/>
          <p:cNvSpPr txBox="1"/>
          <p:nvPr/>
        </p:nvSpPr>
        <p:spPr>
          <a:xfrm>
            <a:off x="8823959" y="219456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E455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97" name="Google Shape;397;p13"/>
          <p:cNvSpPr txBox="1"/>
          <p:nvPr/>
        </p:nvSpPr>
        <p:spPr>
          <a:xfrm>
            <a:off x="7360919" y="301752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Schedule</a:t>
            </a:r>
            <a:endParaRPr/>
          </a:p>
        </p:txBody>
      </p:sp>
      <p:sp>
        <p:nvSpPr>
          <p:cNvPr id="398" name="Google Shape;398;p13"/>
          <p:cNvSpPr txBox="1"/>
          <p:nvPr/>
        </p:nvSpPr>
        <p:spPr>
          <a:xfrm>
            <a:off x="7360919" y="352044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ML picks the</a:t>
            </a:r>
            <a:b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optimal timing</a:t>
            </a:r>
            <a:endParaRPr/>
          </a:p>
        </p:txBody>
      </p:sp>
      <p:sp>
        <p:nvSpPr>
          <p:cNvPr id="399" name="Google Shape;399;p13"/>
          <p:cNvSpPr/>
          <p:nvPr/>
        </p:nvSpPr>
        <p:spPr>
          <a:xfrm>
            <a:off x="10195560" y="2011680"/>
            <a:ext cx="822960" cy="822960"/>
          </a:xfrm>
          <a:prstGeom prst="ellipse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 txBox="1"/>
          <p:nvPr/>
        </p:nvSpPr>
        <p:spPr>
          <a:xfrm>
            <a:off x="10195560" y="20116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01" name="Google Shape;401;p13"/>
          <p:cNvSpPr txBox="1"/>
          <p:nvPr/>
        </p:nvSpPr>
        <p:spPr>
          <a:xfrm>
            <a:off x="9692640" y="301752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Publish</a:t>
            </a:r>
            <a:endParaRPr/>
          </a:p>
        </p:txBody>
      </p:sp>
      <p:sp>
        <p:nvSpPr>
          <p:cNvPr id="402" name="Google Shape;402;p13"/>
          <p:cNvSpPr txBox="1"/>
          <p:nvPr/>
        </p:nvSpPr>
        <p:spPr>
          <a:xfrm>
            <a:off x="9692640" y="352044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Auto-posted to</a:t>
            </a:r>
            <a:b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social platforms</a:t>
            </a: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274320" y="4389120"/>
            <a:ext cx="11612880" cy="54864"/>
          </a:xfrm>
          <a:prstGeom prst="rect">
            <a:avLst/>
          </a:prstGeom>
          <a:solidFill>
            <a:srgbClr val="2E4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 txBox="1"/>
          <p:nvPr/>
        </p:nvSpPr>
        <p:spPr>
          <a:xfrm>
            <a:off x="731520" y="46634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Staff only touches two steps: snap a photo and approve a draft.</a:t>
            </a:r>
            <a:endParaRPr/>
          </a:p>
        </p:txBody>
      </p:sp>
      <p:sp>
        <p:nvSpPr>
          <p:cNvPr id="405" name="Google Shape;405;p13"/>
          <p:cNvSpPr txBox="1"/>
          <p:nvPr/>
        </p:nvSpPr>
        <p:spPr>
          <a:xfrm>
            <a:off x="731520" y="53035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Uses only org-level data, never resident records.</a:t>
            </a:r>
            <a:endParaRPr/>
          </a:p>
        </p:txBody>
      </p:sp>
      <p:sp>
        <p:nvSpPr>
          <p:cNvPr id="406" name="Google Shape;406;p13"/>
          <p:cNvSpPr txBox="1"/>
          <p:nvPr/>
        </p:nvSpPr>
        <p:spPr>
          <a:xfrm>
            <a:off x="6217920" y="53035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No-photo posts get auto-generated branded graphics.</a:t>
            </a:r>
            <a:endParaRPr/>
          </a:p>
        </p:txBody>
      </p:sp>
      <p:sp>
        <p:nvSpPr>
          <p:cNvPr id="407" name="Google Shape;407;p13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GPT-4o with agentic tool-use loops  •  Content pillars balanced automatically  •  Consent required for every photo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 txBox="1"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DONOR NURTURING</a:t>
            </a:r>
            <a:endParaRPr/>
          </a:p>
        </p:txBody>
      </p:sp>
      <p:sp>
        <p:nvSpPr>
          <p:cNvPr id="414" name="Google Shape;414;p14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Automated Monthly Newsletter</a:t>
            </a:r>
            <a:endParaRPr/>
          </a:p>
        </p:txBody>
      </p:sp>
      <p:sp>
        <p:nvSpPr>
          <p:cNvPr id="415" name="Google Shape;415;p14"/>
          <p:cNvSpPr/>
          <p:nvPr/>
        </p:nvSpPr>
        <p:spPr>
          <a:xfrm>
            <a:off x="548640" y="2103120"/>
            <a:ext cx="5303520" cy="2560320"/>
          </a:xfrm>
          <a:prstGeom prst="rect">
            <a:avLst/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548640" y="2103120"/>
            <a:ext cx="64008" cy="2560320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 txBox="1"/>
          <p:nvPr/>
        </p:nvSpPr>
        <p:spPr>
          <a:xfrm>
            <a:off x="822960" y="22860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Engage Current Donors</a:t>
            </a:r>
            <a:endParaRPr/>
          </a:p>
        </p:txBody>
      </p:sp>
      <p:sp>
        <p:nvSpPr>
          <p:cNvPr id="418" name="Google Shape;418;p14"/>
          <p:cNvSpPr txBox="1"/>
          <p:nvPr/>
        </p:nvSpPr>
        <p:spPr>
          <a:xfrm>
            <a:off x="822960" y="2926080"/>
            <a:ext cx="4754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Stays top of mind so donors give again</a:t>
            </a:r>
            <a:b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when they’re ready. Monthly updates</a:t>
            </a:r>
            <a:b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show real impact and fund allocation,</a:t>
            </a:r>
            <a:b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without ever revealing resident data.</a:t>
            </a:r>
            <a:endParaRPr/>
          </a:p>
        </p:txBody>
      </p:sp>
      <p:sp>
        <p:nvSpPr>
          <p:cNvPr id="419" name="Google Shape;419;p14"/>
          <p:cNvSpPr/>
          <p:nvPr/>
        </p:nvSpPr>
        <p:spPr>
          <a:xfrm>
            <a:off x="6309360" y="2103120"/>
            <a:ext cx="5303520" cy="2560320"/>
          </a:xfrm>
          <a:prstGeom prst="rect">
            <a:avLst/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6309360" y="2103120"/>
            <a:ext cx="64008" cy="2560320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 txBox="1"/>
          <p:nvPr/>
        </p:nvSpPr>
        <p:spPr>
          <a:xfrm>
            <a:off x="6583680" y="22860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Nurture Potential Donors</a:t>
            </a:r>
            <a:endParaRPr/>
          </a:p>
        </p:txBody>
      </p:sp>
      <p:sp>
        <p:nvSpPr>
          <p:cNvPr id="422" name="Google Shape;422;p14"/>
          <p:cNvSpPr txBox="1"/>
          <p:nvPr/>
        </p:nvSpPr>
        <p:spPr>
          <a:xfrm>
            <a:off x="6583680" y="2926080"/>
            <a:ext cx="4754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Prospective supporters who’ve shown</a:t>
            </a:r>
            <a:b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interest get a tailored drip of content</a:t>
            </a:r>
            <a:b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that builds trust, educates, and</a:t>
            </a:r>
            <a:b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ultimately converts them into real donors.</a:t>
            </a:r>
            <a:endParaRPr/>
          </a:p>
        </p:txBody>
      </p:sp>
      <p:sp>
        <p:nvSpPr>
          <p:cNvPr id="423" name="Google Shape;423;p14"/>
          <p:cNvSpPr txBox="1"/>
          <p:nvPr/>
        </p:nvSpPr>
        <p:spPr>
          <a:xfrm>
            <a:off x="731520" y="51206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Social media brings them in. The newsletter keeps them engaged.</a:t>
            </a:r>
            <a:endParaRPr/>
          </a:p>
        </p:txBody>
      </p:sp>
      <p:sp>
        <p:nvSpPr>
          <p:cNvPr id="424" name="Google Shape;424;p14"/>
          <p:cNvSpPr txBox="1"/>
          <p:nvPr/>
        </p:nvSpPr>
        <p:spPr>
          <a:xfrm>
            <a:off x="731520" y="57607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Together with ML-driven churn prediction, the entire donor lifecycle</a:t>
            </a:r>
            <a:br>
              <a:rPr b="0" i="1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is automated, from first awareness to long-term retention.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5"/>
          <p:cNvSpPr txBox="1"/>
          <p:nvPr/>
        </p:nvSpPr>
        <p:spPr>
          <a:xfrm>
            <a:off x="3352647" y="228600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LIVE DEMO</a:t>
            </a:r>
            <a:endParaRPr/>
          </a:p>
        </p:txBody>
      </p:sp>
      <p:sp>
        <p:nvSpPr>
          <p:cNvPr id="430" name="Google Shape;430;p15"/>
          <p:cNvSpPr txBox="1"/>
          <p:nvPr/>
        </p:nvSpPr>
        <p:spPr>
          <a:xfrm>
            <a:off x="2438247" y="34747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Public Site  →  Admin Portal  →  ML in Action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/>
          </a:p>
        </p:txBody>
      </p:sp>
      <p:sp>
        <p:nvSpPr>
          <p:cNvPr id="437" name="Google Shape;437;p16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0F1B2D"/>
                </a:solidFill>
                <a:latin typeface="Georgia"/>
                <a:ea typeface="Georgia"/>
                <a:cs typeface="Georgia"/>
                <a:sym typeface="Georgia"/>
              </a:rPr>
              <a:t>Public-Facing Experience</a:t>
            </a:r>
            <a:endParaRPr/>
          </a:p>
        </p:txBody>
      </p:sp>
      <p:sp>
        <p:nvSpPr>
          <p:cNvPr id="438" name="Google Shape;438;p16"/>
          <p:cNvSpPr txBox="1"/>
          <p:nvPr/>
        </p:nvSpPr>
        <p:spPr>
          <a:xfrm>
            <a:off x="8412480" y="23774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•  Homepage &amp; mission</a:t>
            </a:r>
            <a:endParaRPr/>
          </a:p>
        </p:txBody>
      </p:sp>
      <p:sp>
        <p:nvSpPr>
          <p:cNvPr id="439" name="Google Shape;439;p16"/>
          <p:cNvSpPr txBox="1"/>
          <p:nvPr/>
        </p:nvSpPr>
        <p:spPr>
          <a:xfrm>
            <a:off x="8412480" y="3657620"/>
            <a:ext cx="320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•  Impact dashboard</a:t>
            </a:r>
            <a:endParaRPr/>
          </a:p>
        </p:txBody>
      </p:sp>
      <p:sp>
        <p:nvSpPr>
          <p:cNvPr id="440" name="Google Shape;440;p16"/>
          <p:cNvSpPr txBox="1"/>
          <p:nvPr/>
        </p:nvSpPr>
        <p:spPr>
          <a:xfrm>
            <a:off x="8412480" y="3017575"/>
            <a:ext cx="320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•  Donation flow</a:t>
            </a:r>
            <a:endParaRPr/>
          </a:p>
        </p:txBody>
      </p:sp>
      <p:pic>
        <p:nvPicPr>
          <p:cNvPr id="441" name="Google Shape;441;p16" title="2-HomePage Walkthrough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706880"/>
            <a:ext cx="8107681" cy="4583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7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/>
          </a:p>
        </p:txBody>
      </p:sp>
      <p:sp>
        <p:nvSpPr>
          <p:cNvPr id="448" name="Google Shape;448;p17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0F1B2D"/>
                </a:solidFill>
                <a:latin typeface="Georgia"/>
                <a:ea typeface="Georgia"/>
                <a:cs typeface="Georgia"/>
                <a:sym typeface="Georgia"/>
              </a:rPr>
              <a:t>Admin Command Center</a:t>
            </a:r>
            <a:endParaRPr/>
          </a:p>
        </p:txBody>
      </p:sp>
      <p:sp>
        <p:nvSpPr>
          <p:cNvPr id="449" name="Google Shape;449;p17"/>
          <p:cNvSpPr txBox="1"/>
          <p:nvPr/>
        </p:nvSpPr>
        <p:spPr>
          <a:xfrm>
            <a:off x="8412480" y="21945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•  Dashboard KPIs</a:t>
            </a:r>
            <a:endParaRPr/>
          </a:p>
        </p:txBody>
      </p:sp>
      <p:sp>
        <p:nvSpPr>
          <p:cNvPr id="450" name="Google Shape;450;p17"/>
          <p:cNvSpPr txBox="1"/>
          <p:nvPr/>
        </p:nvSpPr>
        <p:spPr>
          <a:xfrm>
            <a:off x="8412480" y="27889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•  Workflow &amp; case management</a:t>
            </a:r>
            <a:endParaRPr/>
          </a:p>
        </p:txBody>
      </p:sp>
      <p:sp>
        <p:nvSpPr>
          <p:cNvPr id="451" name="Google Shape;451;p17"/>
          <p:cNvSpPr txBox="1"/>
          <p:nvPr/>
        </p:nvSpPr>
        <p:spPr>
          <a:xfrm>
            <a:off x="8412475" y="3383275"/>
            <a:ext cx="3657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•  NL-to-SQL chatbot for ad-hoc queries</a:t>
            </a:r>
            <a:endParaRPr/>
          </a:p>
        </p:txBody>
      </p:sp>
      <p:sp>
        <p:nvSpPr>
          <p:cNvPr id="452" name="Google Shape;452;p17"/>
          <p:cNvSpPr txBox="1"/>
          <p:nvPr/>
        </p:nvSpPr>
        <p:spPr>
          <a:xfrm>
            <a:off x="8412480" y="3950175"/>
            <a:ext cx="320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•  ML predictions in context</a:t>
            </a:r>
            <a:endParaRPr/>
          </a:p>
        </p:txBody>
      </p:sp>
      <p:pic>
        <p:nvPicPr>
          <p:cNvPr id="453" name="Google Shape;453;p17" title="1-AdminPage Walkthrough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848" y="1927250"/>
            <a:ext cx="7782672" cy="4399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de3cafd4d1_2_3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de3cafd4d1_2_3"/>
          <p:cNvSpPr txBox="1"/>
          <p:nvPr/>
        </p:nvSpPr>
        <p:spPr>
          <a:xfrm>
            <a:off x="731520" y="457200"/>
            <a:ext cx="365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/>
          </a:p>
        </p:txBody>
      </p:sp>
      <p:sp>
        <p:nvSpPr>
          <p:cNvPr id="460" name="Google Shape;460;g3de3cafd4d1_2_3"/>
          <p:cNvSpPr txBox="1"/>
          <p:nvPr/>
        </p:nvSpPr>
        <p:spPr>
          <a:xfrm>
            <a:off x="731520" y="822960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0F1B2D"/>
                </a:solidFill>
                <a:latin typeface="Georgia"/>
                <a:ea typeface="Georgia"/>
                <a:cs typeface="Georgia"/>
                <a:sym typeface="Georgia"/>
              </a:rPr>
              <a:t>A New Girl Arrives</a:t>
            </a:r>
            <a:endParaRPr/>
          </a:p>
        </p:txBody>
      </p:sp>
      <p:sp>
        <p:nvSpPr>
          <p:cNvPr id="461" name="Google Shape;461;g3de3cafd4d1_2_3"/>
          <p:cNvSpPr txBox="1"/>
          <p:nvPr/>
        </p:nvSpPr>
        <p:spPr>
          <a:xfrm>
            <a:off x="8412480" y="2194560"/>
            <a:ext cx="320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7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ML risk scoring at intake</a:t>
            </a:r>
            <a:endParaRPr sz="1700">
              <a:solidFill>
                <a:srgbClr val="0F1B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F1B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de3cafd4d1_2_3"/>
          <p:cNvSpPr txBox="1"/>
          <p:nvPr/>
        </p:nvSpPr>
        <p:spPr>
          <a:xfrm>
            <a:off x="8412480" y="2810158"/>
            <a:ext cx="3200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7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Staff claims case and reviews risk factors</a:t>
            </a:r>
            <a:endParaRPr sz="1700">
              <a:solidFill>
                <a:srgbClr val="0F1B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F1B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de3cafd4d1_2_3"/>
          <p:cNvSpPr txBox="1"/>
          <p:nvPr/>
        </p:nvSpPr>
        <p:spPr>
          <a:xfrm>
            <a:off x="8412480" y="3624180"/>
            <a:ext cx="320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7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One-click add to case conference</a:t>
            </a:r>
            <a:endParaRPr sz="1700">
              <a:solidFill>
                <a:srgbClr val="0F1B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de3cafd4d1_2_3"/>
          <p:cNvSpPr txBox="1"/>
          <p:nvPr/>
        </p:nvSpPr>
        <p:spPr>
          <a:xfrm>
            <a:off x="8412480" y="4411580"/>
            <a:ext cx="320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7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Auto-flagged if no progress in 3 weeks</a:t>
            </a:r>
            <a:endParaRPr sz="1700">
              <a:solidFill>
                <a:srgbClr val="0F1B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5" name="Google Shape;465;g3de3cafd4d1_2_3" title="3. STAFF FINAL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687" y="1920350"/>
            <a:ext cx="7281326" cy="4323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de3cafd4d1_2_16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de3cafd4d1_2_16"/>
          <p:cNvSpPr txBox="1"/>
          <p:nvPr/>
        </p:nvSpPr>
        <p:spPr>
          <a:xfrm>
            <a:off x="731520" y="457200"/>
            <a:ext cx="365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/>
          </a:p>
        </p:txBody>
      </p:sp>
      <p:sp>
        <p:nvSpPr>
          <p:cNvPr id="472" name="Google Shape;472;g3de3cafd4d1_2_16"/>
          <p:cNvSpPr txBox="1"/>
          <p:nvPr/>
        </p:nvSpPr>
        <p:spPr>
          <a:xfrm>
            <a:off x="731520" y="822960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0F1B2D"/>
                </a:solidFill>
                <a:latin typeface="Georgia"/>
                <a:ea typeface="Georgia"/>
                <a:cs typeface="Georgia"/>
                <a:sym typeface="Georgia"/>
              </a:rPr>
              <a:t>Social Media + Donors</a:t>
            </a:r>
            <a:endParaRPr b="1" sz="3800">
              <a:solidFill>
                <a:srgbClr val="0F1B2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3" name="Google Shape;473;g3de3cafd4d1_2_16"/>
          <p:cNvSpPr txBox="1"/>
          <p:nvPr/>
        </p:nvSpPr>
        <p:spPr>
          <a:xfrm>
            <a:off x="8412480" y="2194560"/>
            <a:ext cx="3200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7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AI-generated posts from a single photo</a:t>
            </a:r>
            <a:endParaRPr sz="1700">
              <a:solidFill>
                <a:srgbClr val="0F1B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F1B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de3cafd4d1_2_16"/>
          <p:cNvSpPr txBox="1"/>
          <p:nvPr/>
        </p:nvSpPr>
        <p:spPr>
          <a:xfrm>
            <a:off x="8412480" y="2966395"/>
            <a:ext cx="320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7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ML-optimized posting time and content</a:t>
            </a:r>
            <a:endParaRPr/>
          </a:p>
        </p:txBody>
      </p:sp>
      <p:sp>
        <p:nvSpPr>
          <p:cNvPr id="475" name="Google Shape;475;g3de3cafd4d1_2_16"/>
          <p:cNvSpPr txBox="1"/>
          <p:nvPr/>
        </p:nvSpPr>
        <p:spPr>
          <a:xfrm>
            <a:off x="8412480" y="3766255"/>
            <a:ext cx="3200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7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Donor churn prediction with risk scores</a:t>
            </a:r>
            <a:endParaRPr sz="1700">
              <a:solidFill>
                <a:srgbClr val="0F1B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F1B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de3cafd4d1_2_16"/>
          <p:cNvSpPr txBox="1"/>
          <p:nvPr/>
        </p:nvSpPr>
        <p:spPr>
          <a:xfrm>
            <a:off x="8412480" y="4487264"/>
            <a:ext cx="320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 sz="1700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One-click personalized outreach email</a:t>
            </a:r>
            <a:endParaRPr/>
          </a:p>
        </p:txBody>
      </p:sp>
      <p:pic>
        <p:nvPicPr>
          <p:cNvPr id="477" name="Google Shape;477;g3de3cafd4d1_2_16" title="4. DONOR and SOCIAL MEDIA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775" y="1947113"/>
            <a:ext cx="7299398" cy="4334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8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/>
          </a:p>
        </p:txBody>
      </p:sp>
      <p:sp>
        <p:nvSpPr>
          <p:cNvPr id="484" name="Google Shape;484;p18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8 Pipelines Across 3 Domains</a:t>
            </a:r>
            <a:endParaRPr/>
          </a:p>
        </p:txBody>
      </p:sp>
      <p:sp>
        <p:nvSpPr>
          <p:cNvPr id="485" name="Google Shape;485;p18"/>
          <p:cNvSpPr txBox="1"/>
          <p:nvPr/>
        </p:nvSpPr>
        <p:spPr>
          <a:xfrm>
            <a:off x="457200" y="192024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RESIDENT</a:t>
            </a:r>
            <a:br>
              <a:rPr b="1" i="0" lang="en-US" sz="13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OUTCOMES</a:t>
            </a:r>
            <a:endParaRPr/>
          </a:p>
        </p:txBody>
      </p:sp>
      <p:sp>
        <p:nvSpPr>
          <p:cNvPr id="486" name="Google Shape;486;p18"/>
          <p:cNvSpPr/>
          <p:nvPr/>
        </p:nvSpPr>
        <p:spPr>
          <a:xfrm>
            <a:off x="457200" y="2651760"/>
            <a:ext cx="3474720" cy="731520"/>
          </a:xfrm>
          <a:prstGeom prst="rect">
            <a:avLst/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8"/>
          <p:cNvSpPr/>
          <p:nvPr/>
        </p:nvSpPr>
        <p:spPr>
          <a:xfrm>
            <a:off x="457200" y="2651760"/>
            <a:ext cx="64008" cy="731520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8"/>
          <p:cNvSpPr txBox="1"/>
          <p:nvPr/>
        </p:nvSpPr>
        <p:spPr>
          <a:xfrm>
            <a:off x="685800" y="274320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Reintegration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Readiness</a:t>
            </a:r>
            <a:endParaRPr/>
          </a:p>
        </p:txBody>
      </p:sp>
      <p:sp>
        <p:nvSpPr>
          <p:cNvPr id="489" name="Google Shape;489;p18"/>
          <p:cNvSpPr/>
          <p:nvPr/>
        </p:nvSpPr>
        <p:spPr>
          <a:xfrm>
            <a:off x="457200" y="3520439"/>
            <a:ext cx="3474720" cy="731520"/>
          </a:xfrm>
          <a:prstGeom prst="rect">
            <a:avLst/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8"/>
          <p:cNvSpPr/>
          <p:nvPr/>
        </p:nvSpPr>
        <p:spPr>
          <a:xfrm>
            <a:off x="457200" y="3520439"/>
            <a:ext cx="64008" cy="731520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8"/>
          <p:cNvSpPr txBox="1"/>
          <p:nvPr/>
        </p:nvSpPr>
        <p:spPr>
          <a:xfrm>
            <a:off x="685800" y="3611879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Reintegration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Drivers</a:t>
            </a:r>
            <a:endParaRPr/>
          </a:p>
        </p:txBody>
      </p:sp>
      <p:sp>
        <p:nvSpPr>
          <p:cNvPr id="492" name="Google Shape;492;p18"/>
          <p:cNvSpPr/>
          <p:nvPr/>
        </p:nvSpPr>
        <p:spPr>
          <a:xfrm>
            <a:off x="457200" y="4389120"/>
            <a:ext cx="3474720" cy="731520"/>
          </a:xfrm>
          <a:prstGeom prst="rect">
            <a:avLst/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8"/>
          <p:cNvSpPr/>
          <p:nvPr/>
        </p:nvSpPr>
        <p:spPr>
          <a:xfrm>
            <a:off x="457200" y="4389120"/>
            <a:ext cx="64008" cy="731520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8"/>
          <p:cNvSpPr txBox="1"/>
          <p:nvPr/>
        </p:nvSpPr>
        <p:spPr>
          <a:xfrm>
            <a:off x="685800" y="4480559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Incident Early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Warning</a:t>
            </a:r>
            <a:endParaRPr/>
          </a:p>
        </p:txBody>
      </p:sp>
      <p:sp>
        <p:nvSpPr>
          <p:cNvPr id="495" name="Google Shape;495;p18"/>
          <p:cNvSpPr/>
          <p:nvPr/>
        </p:nvSpPr>
        <p:spPr>
          <a:xfrm>
            <a:off x="457200" y="5257800"/>
            <a:ext cx="3474720" cy="731520"/>
          </a:xfrm>
          <a:prstGeom prst="rect">
            <a:avLst/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8"/>
          <p:cNvSpPr/>
          <p:nvPr/>
        </p:nvSpPr>
        <p:spPr>
          <a:xfrm>
            <a:off x="457200" y="5257800"/>
            <a:ext cx="64008" cy="731520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8"/>
          <p:cNvSpPr txBox="1"/>
          <p:nvPr/>
        </p:nvSpPr>
        <p:spPr>
          <a:xfrm>
            <a:off x="685800" y="534924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Incident Risk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Drivers</a:t>
            </a:r>
            <a:endParaRPr/>
          </a:p>
        </p:txBody>
      </p:sp>
      <p:sp>
        <p:nvSpPr>
          <p:cNvPr id="498" name="Google Shape;498;p18"/>
          <p:cNvSpPr txBox="1"/>
          <p:nvPr/>
        </p:nvSpPr>
        <p:spPr>
          <a:xfrm>
            <a:off x="4389120" y="192024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DONOR</a:t>
            </a:r>
            <a:br>
              <a:rPr b="1" i="0" lang="en-US" sz="13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INTELLIGENCE</a:t>
            </a:r>
            <a:endParaRPr/>
          </a:p>
        </p:txBody>
      </p:sp>
      <p:sp>
        <p:nvSpPr>
          <p:cNvPr id="499" name="Google Shape;499;p18"/>
          <p:cNvSpPr/>
          <p:nvPr/>
        </p:nvSpPr>
        <p:spPr>
          <a:xfrm>
            <a:off x="4389120" y="2651760"/>
            <a:ext cx="3474720" cy="731520"/>
          </a:xfrm>
          <a:prstGeom prst="rect">
            <a:avLst/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8"/>
          <p:cNvSpPr/>
          <p:nvPr/>
        </p:nvSpPr>
        <p:spPr>
          <a:xfrm>
            <a:off x="4389120" y="2651760"/>
            <a:ext cx="64008" cy="731520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8"/>
          <p:cNvSpPr txBox="1"/>
          <p:nvPr/>
        </p:nvSpPr>
        <p:spPr>
          <a:xfrm>
            <a:off x="4617720" y="274320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Donor Churn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/>
          </a:p>
        </p:txBody>
      </p:sp>
      <p:sp>
        <p:nvSpPr>
          <p:cNvPr id="502" name="Google Shape;502;p18"/>
          <p:cNvSpPr/>
          <p:nvPr/>
        </p:nvSpPr>
        <p:spPr>
          <a:xfrm>
            <a:off x="4389120" y="3520439"/>
            <a:ext cx="3474720" cy="731520"/>
          </a:xfrm>
          <a:prstGeom prst="rect">
            <a:avLst/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4389120" y="3520439"/>
            <a:ext cx="64008" cy="731520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8"/>
          <p:cNvSpPr txBox="1"/>
          <p:nvPr/>
        </p:nvSpPr>
        <p:spPr>
          <a:xfrm>
            <a:off x="4617720" y="3611879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Donor Churn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Drivers</a:t>
            </a:r>
            <a:endParaRPr/>
          </a:p>
        </p:txBody>
      </p:sp>
      <p:sp>
        <p:nvSpPr>
          <p:cNvPr id="505" name="Google Shape;505;p18"/>
          <p:cNvSpPr txBox="1"/>
          <p:nvPr/>
        </p:nvSpPr>
        <p:spPr>
          <a:xfrm>
            <a:off x="8321040" y="192024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SOCIAL MEDIA</a:t>
            </a:r>
            <a:br>
              <a:rPr b="1" i="0" lang="en-US" sz="13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endParaRPr/>
          </a:p>
        </p:txBody>
      </p:sp>
      <p:sp>
        <p:nvSpPr>
          <p:cNvPr id="506" name="Google Shape;506;p18"/>
          <p:cNvSpPr/>
          <p:nvPr/>
        </p:nvSpPr>
        <p:spPr>
          <a:xfrm>
            <a:off x="8321040" y="2651760"/>
            <a:ext cx="3474720" cy="731520"/>
          </a:xfrm>
          <a:prstGeom prst="rect">
            <a:avLst/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8"/>
          <p:cNvSpPr/>
          <p:nvPr/>
        </p:nvSpPr>
        <p:spPr>
          <a:xfrm>
            <a:off x="8321040" y="2651760"/>
            <a:ext cx="64008" cy="731520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8"/>
          <p:cNvSpPr txBox="1"/>
          <p:nvPr/>
        </p:nvSpPr>
        <p:spPr>
          <a:xfrm>
            <a:off x="8549640" y="274320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Content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Optimization</a:t>
            </a:r>
            <a:endParaRPr/>
          </a:p>
        </p:txBody>
      </p:sp>
      <p:sp>
        <p:nvSpPr>
          <p:cNvPr id="509" name="Google Shape;509;p18"/>
          <p:cNvSpPr/>
          <p:nvPr/>
        </p:nvSpPr>
        <p:spPr>
          <a:xfrm>
            <a:off x="8321040" y="3520439"/>
            <a:ext cx="3474720" cy="731520"/>
          </a:xfrm>
          <a:prstGeom prst="rect">
            <a:avLst/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8"/>
          <p:cNvSpPr/>
          <p:nvPr/>
        </p:nvSpPr>
        <p:spPr>
          <a:xfrm>
            <a:off x="8321040" y="3520439"/>
            <a:ext cx="64008" cy="731520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8"/>
          <p:cNvSpPr txBox="1"/>
          <p:nvPr/>
        </p:nvSpPr>
        <p:spPr>
          <a:xfrm>
            <a:off x="8549640" y="3611879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Timing</a:t>
            </a:r>
            <a:b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Optimization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9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OUR PROCESS</a:t>
            </a:r>
            <a:endParaRPr/>
          </a:p>
        </p:txBody>
      </p:sp>
      <p:sp>
        <p:nvSpPr>
          <p:cNvPr id="518" name="Google Shape;518;p19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0F1B2D"/>
                </a:solidFill>
                <a:latin typeface="Georgia"/>
                <a:ea typeface="Georgia"/>
                <a:cs typeface="Georgia"/>
                <a:sym typeface="Georgia"/>
              </a:rPr>
              <a:t>Full Pipeline, Every Time</a:t>
            </a:r>
            <a:endParaRPr/>
          </a:p>
        </p:txBody>
      </p:sp>
      <p:sp>
        <p:nvSpPr>
          <p:cNvPr id="519" name="Google Shape;519;p19"/>
          <p:cNvSpPr/>
          <p:nvPr/>
        </p:nvSpPr>
        <p:spPr>
          <a:xfrm>
            <a:off x="822960" y="2194560"/>
            <a:ext cx="731520" cy="731520"/>
          </a:xfrm>
          <a:prstGeom prst="ellipse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9"/>
          <p:cNvSpPr txBox="1"/>
          <p:nvPr/>
        </p:nvSpPr>
        <p:spPr>
          <a:xfrm>
            <a:off x="822960" y="219456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21" name="Google Shape;521;p19"/>
          <p:cNvSpPr txBox="1"/>
          <p:nvPr/>
        </p:nvSpPr>
        <p:spPr>
          <a:xfrm>
            <a:off x="1691640" y="2331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522" name="Google Shape;522;p19"/>
          <p:cNvSpPr txBox="1"/>
          <p:nvPr/>
        </p:nvSpPr>
        <p:spPr>
          <a:xfrm>
            <a:off x="457200" y="320040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br>
              <a:rPr b="1" i="0" lang="en-US" sz="15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Framing</a:t>
            </a:r>
            <a:endParaRPr/>
          </a:p>
        </p:txBody>
      </p:sp>
      <p:sp>
        <p:nvSpPr>
          <p:cNvPr id="523" name="Google Shape;523;p19"/>
          <p:cNvSpPr/>
          <p:nvPr/>
        </p:nvSpPr>
        <p:spPr>
          <a:xfrm>
            <a:off x="2788920" y="2194560"/>
            <a:ext cx="731520" cy="731520"/>
          </a:xfrm>
          <a:prstGeom prst="ellipse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9"/>
          <p:cNvSpPr txBox="1"/>
          <p:nvPr/>
        </p:nvSpPr>
        <p:spPr>
          <a:xfrm>
            <a:off x="2788920" y="219456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25" name="Google Shape;525;p19"/>
          <p:cNvSpPr txBox="1"/>
          <p:nvPr/>
        </p:nvSpPr>
        <p:spPr>
          <a:xfrm>
            <a:off x="3657600" y="2331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526" name="Google Shape;526;p19"/>
          <p:cNvSpPr txBox="1"/>
          <p:nvPr/>
        </p:nvSpPr>
        <p:spPr>
          <a:xfrm>
            <a:off x="2423160" y="320040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Data Prep &amp;</a:t>
            </a:r>
            <a:br>
              <a:rPr b="1" i="0" lang="en-US" sz="15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Exploration</a:t>
            </a:r>
            <a:endParaRPr/>
          </a:p>
        </p:txBody>
      </p:sp>
      <p:sp>
        <p:nvSpPr>
          <p:cNvPr id="527" name="Google Shape;527;p19"/>
          <p:cNvSpPr/>
          <p:nvPr/>
        </p:nvSpPr>
        <p:spPr>
          <a:xfrm>
            <a:off x="4754880" y="2194560"/>
            <a:ext cx="731520" cy="731520"/>
          </a:xfrm>
          <a:prstGeom prst="ellipse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9"/>
          <p:cNvSpPr txBox="1"/>
          <p:nvPr/>
        </p:nvSpPr>
        <p:spPr>
          <a:xfrm>
            <a:off x="4754880" y="219456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29" name="Google Shape;529;p19"/>
          <p:cNvSpPr txBox="1"/>
          <p:nvPr/>
        </p:nvSpPr>
        <p:spPr>
          <a:xfrm>
            <a:off x="5623560" y="2331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530" name="Google Shape;530;p19"/>
          <p:cNvSpPr txBox="1"/>
          <p:nvPr/>
        </p:nvSpPr>
        <p:spPr>
          <a:xfrm>
            <a:off x="4389120" y="320040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Modeling</a:t>
            </a:r>
            <a:endParaRPr/>
          </a:p>
        </p:txBody>
      </p:sp>
      <p:sp>
        <p:nvSpPr>
          <p:cNvPr id="531" name="Google Shape;531;p19"/>
          <p:cNvSpPr/>
          <p:nvPr/>
        </p:nvSpPr>
        <p:spPr>
          <a:xfrm>
            <a:off x="6720840" y="2194560"/>
            <a:ext cx="731520" cy="731520"/>
          </a:xfrm>
          <a:prstGeom prst="ellipse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9"/>
          <p:cNvSpPr txBox="1"/>
          <p:nvPr/>
        </p:nvSpPr>
        <p:spPr>
          <a:xfrm>
            <a:off x="6720840" y="219456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33" name="Google Shape;533;p19"/>
          <p:cNvSpPr txBox="1"/>
          <p:nvPr/>
        </p:nvSpPr>
        <p:spPr>
          <a:xfrm>
            <a:off x="7589519" y="2331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534" name="Google Shape;534;p19"/>
          <p:cNvSpPr txBox="1"/>
          <p:nvPr/>
        </p:nvSpPr>
        <p:spPr>
          <a:xfrm>
            <a:off x="6355079" y="320040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/>
          </a:p>
        </p:txBody>
      </p:sp>
      <p:sp>
        <p:nvSpPr>
          <p:cNvPr id="535" name="Google Shape;535;p19"/>
          <p:cNvSpPr/>
          <p:nvPr/>
        </p:nvSpPr>
        <p:spPr>
          <a:xfrm>
            <a:off x="8686800" y="2194560"/>
            <a:ext cx="731520" cy="731520"/>
          </a:xfrm>
          <a:prstGeom prst="ellipse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9"/>
          <p:cNvSpPr txBox="1"/>
          <p:nvPr/>
        </p:nvSpPr>
        <p:spPr>
          <a:xfrm>
            <a:off x="8686800" y="219456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37" name="Google Shape;537;p19"/>
          <p:cNvSpPr txBox="1"/>
          <p:nvPr/>
        </p:nvSpPr>
        <p:spPr>
          <a:xfrm>
            <a:off x="9555480" y="2331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538" name="Google Shape;538;p19"/>
          <p:cNvSpPr txBox="1"/>
          <p:nvPr/>
        </p:nvSpPr>
        <p:spPr>
          <a:xfrm>
            <a:off x="8321040" y="320040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br>
              <a:rPr b="1" i="0" lang="en-US" sz="15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Selection</a:t>
            </a:r>
            <a:endParaRPr/>
          </a:p>
        </p:txBody>
      </p:sp>
      <p:sp>
        <p:nvSpPr>
          <p:cNvPr id="539" name="Google Shape;539;p19"/>
          <p:cNvSpPr/>
          <p:nvPr/>
        </p:nvSpPr>
        <p:spPr>
          <a:xfrm>
            <a:off x="10652760" y="2194560"/>
            <a:ext cx="731520" cy="731520"/>
          </a:xfrm>
          <a:prstGeom prst="ellipse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9"/>
          <p:cNvSpPr txBox="1"/>
          <p:nvPr/>
        </p:nvSpPr>
        <p:spPr>
          <a:xfrm>
            <a:off x="10652760" y="219456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41" name="Google Shape;541;p19"/>
          <p:cNvSpPr txBox="1"/>
          <p:nvPr/>
        </p:nvSpPr>
        <p:spPr>
          <a:xfrm>
            <a:off x="10287000" y="320040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/>
          </a:p>
        </p:txBody>
      </p:sp>
      <p:sp>
        <p:nvSpPr>
          <p:cNvPr id="542" name="Google Shape;542;p19"/>
          <p:cNvSpPr txBox="1"/>
          <p:nvPr/>
        </p:nvSpPr>
        <p:spPr>
          <a:xfrm>
            <a:off x="731520" y="43891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Prediction vs. Explanation</a:t>
            </a:r>
            <a:endParaRPr/>
          </a:p>
        </p:txBody>
      </p:sp>
      <p:sp>
        <p:nvSpPr>
          <p:cNvPr id="543" name="Google Shape;543;p19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Every pipeline explicitly states its goal and chooses the right model for that goal.</a:t>
            </a:r>
            <a:endParaRPr/>
          </a:p>
        </p:txBody>
      </p:sp>
      <p:sp>
        <p:nvSpPr>
          <p:cNvPr id="544" name="Google Shape;544;p19"/>
          <p:cNvSpPr txBox="1"/>
          <p:nvPr/>
        </p:nvSpPr>
        <p:spPr>
          <a:xfrm>
            <a:off x="731520" y="52120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Paired Pipelines</a:t>
            </a:r>
            <a:endParaRPr/>
          </a:p>
        </p:txBody>
      </p:sp>
      <p:sp>
        <p:nvSpPr>
          <p:cNvPr id="545" name="Google Shape;545;p19"/>
          <p:cNvSpPr txBox="1"/>
          <p:nvPr/>
        </p:nvSpPr>
        <p:spPr>
          <a:xfrm>
            <a:off x="731520" y="55778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Each question gets both: a predictive model (what will happen) and an explanatory model (why).</a:t>
            </a:r>
            <a:endParaRPr/>
          </a:p>
        </p:txBody>
      </p:sp>
      <p:sp>
        <p:nvSpPr>
          <p:cNvPr id="546" name="Google Shape;546;p19"/>
          <p:cNvSpPr txBox="1"/>
          <p:nvPr/>
        </p:nvSpPr>
        <p:spPr>
          <a:xfrm>
            <a:off x="731520" y="60350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Deployed, Not Notebooks</a:t>
            </a:r>
            <a:endParaRPr/>
          </a:p>
        </p:txBody>
      </p:sp>
      <p:sp>
        <p:nvSpPr>
          <p:cNvPr id="547" name="Google Shape;547;p19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Every model serves predictions through a live API endpoint integrated into the web app.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0"/>
          <p:cNvSpPr txBox="1"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DATA CONSTRAINTS</a:t>
            </a:r>
            <a:endParaRPr/>
          </a:p>
        </p:txBody>
      </p:sp>
      <p:sp>
        <p:nvSpPr>
          <p:cNvPr id="554" name="Google Shape;554;p20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Where We Are vs. Where This Goes</a:t>
            </a:r>
            <a:endParaRPr/>
          </a:p>
        </p:txBody>
      </p:sp>
      <p:sp>
        <p:nvSpPr>
          <p:cNvPr id="555" name="Google Shape;555;p20"/>
          <p:cNvSpPr/>
          <p:nvPr/>
        </p:nvSpPr>
        <p:spPr>
          <a:xfrm>
            <a:off x="548640" y="2011680"/>
            <a:ext cx="5394960" cy="3840480"/>
          </a:xfrm>
          <a:prstGeom prst="rect">
            <a:avLst/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0"/>
          <p:cNvSpPr/>
          <p:nvPr/>
        </p:nvSpPr>
        <p:spPr>
          <a:xfrm>
            <a:off x="548640" y="2011680"/>
            <a:ext cx="64008" cy="3840480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0"/>
          <p:cNvSpPr txBox="1"/>
          <p:nvPr/>
        </p:nvSpPr>
        <p:spPr>
          <a:xfrm>
            <a:off x="822960" y="219456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Current Reality</a:t>
            </a:r>
            <a:endParaRPr/>
          </a:p>
        </p:txBody>
      </p:sp>
      <p:sp>
        <p:nvSpPr>
          <p:cNvPr id="558" name="Google Shape;558;p20"/>
          <p:cNvSpPr txBox="1"/>
          <p:nvPr/>
        </p:nvSpPr>
        <p:spPr>
          <a:xfrm>
            <a:off x="822960" y="283464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•  76 active residents, 71 donors, 812 social posts</a:t>
            </a:r>
            <a:endParaRPr/>
          </a:p>
        </p:txBody>
      </p:sp>
      <p:sp>
        <p:nvSpPr>
          <p:cNvPr id="559" name="Google Shape;559;p20"/>
          <p:cNvSpPr txBox="1"/>
          <p:nvPr/>
        </p:nvSpPr>
        <p:spPr>
          <a:xfrm>
            <a:off x="822960" y="338328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•  Small samples limit statistical power in resident and donor models</a:t>
            </a:r>
            <a:endParaRPr/>
          </a:p>
        </p:txBody>
      </p:sp>
      <p:sp>
        <p:nvSpPr>
          <p:cNvPr id="560" name="Google Shape;560;p20"/>
          <p:cNvSpPr txBox="1"/>
          <p:nvPr/>
        </p:nvSpPr>
        <p:spPr>
          <a:xfrm>
            <a:off x="822960" y="393192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•  Some models show high variance across CV folds</a:t>
            </a:r>
            <a:endParaRPr/>
          </a:p>
        </p:txBody>
      </p:sp>
      <p:sp>
        <p:nvSpPr>
          <p:cNvPr id="561" name="Google Shape;561;p20"/>
          <p:cNvSpPr txBox="1"/>
          <p:nvPr/>
        </p:nvSpPr>
        <p:spPr>
          <a:xfrm>
            <a:off x="822960" y="448056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•  Donor churn drivers constrained to 2 features by EPV rule</a:t>
            </a:r>
            <a:endParaRPr/>
          </a:p>
        </p:txBody>
      </p:sp>
      <p:sp>
        <p:nvSpPr>
          <p:cNvPr id="562" name="Google Shape;562;p20"/>
          <p:cNvSpPr txBox="1"/>
          <p:nvPr/>
        </p:nvSpPr>
        <p:spPr>
          <a:xfrm>
            <a:off x="822960" y="502920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•  Test sets of 12 records make point estimates noisy</a:t>
            </a:r>
            <a:endParaRPr/>
          </a:p>
        </p:txBody>
      </p:sp>
      <p:sp>
        <p:nvSpPr>
          <p:cNvPr id="563" name="Google Shape;563;p20"/>
          <p:cNvSpPr/>
          <p:nvPr/>
        </p:nvSpPr>
        <p:spPr>
          <a:xfrm>
            <a:off x="6309360" y="2011680"/>
            <a:ext cx="5394960" cy="3840480"/>
          </a:xfrm>
          <a:prstGeom prst="rect">
            <a:avLst/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0"/>
          <p:cNvSpPr/>
          <p:nvPr/>
        </p:nvSpPr>
        <p:spPr>
          <a:xfrm>
            <a:off x="6309360" y="2011680"/>
            <a:ext cx="64008" cy="3840480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0"/>
          <p:cNvSpPr txBox="1"/>
          <p:nvPr/>
        </p:nvSpPr>
        <p:spPr>
          <a:xfrm>
            <a:off x="6583680" y="219456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As the System Grows</a:t>
            </a:r>
            <a:endParaRPr/>
          </a:p>
        </p:txBody>
      </p:sp>
      <p:sp>
        <p:nvSpPr>
          <p:cNvPr id="566" name="Google Shape;566;p20"/>
          <p:cNvSpPr txBox="1"/>
          <p:nvPr/>
        </p:nvSpPr>
        <p:spPr>
          <a:xfrm>
            <a:off x="6583680" y="283464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•  Every interaction feeds new data into the pipelines</a:t>
            </a:r>
            <a:endParaRPr/>
          </a:p>
        </p:txBody>
      </p:sp>
      <p:sp>
        <p:nvSpPr>
          <p:cNvPr id="567" name="Google Shape;567;p20"/>
          <p:cNvSpPr txBox="1"/>
          <p:nvPr/>
        </p:nvSpPr>
        <p:spPr>
          <a:xfrm>
            <a:off x="6583680" y="338328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•  Nightly retraining (GitHub Actions, 3 AM) catches drift automatically</a:t>
            </a:r>
            <a:endParaRPr/>
          </a:p>
        </p:txBody>
      </p:sp>
      <p:sp>
        <p:nvSpPr>
          <p:cNvPr id="568" name="Google Shape;568;p20"/>
          <p:cNvSpPr txBox="1"/>
          <p:nvPr/>
        </p:nvSpPr>
        <p:spPr>
          <a:xfrm>
            <a:off x="6583680" y="393192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•  Larger samples unlock richer explanatory models</a:t>
            </a:r>
            <a:endParaRPr/>
          </a:p>
        </p:txBody>
      </p:sp>
      <p:sp>
        <p:nvSpPr>
          <p:cNvPr id="569" name="Google Shape;569;p20"/>
          <p:cNvSpPr txBox="1"/>
          <p:nvPr/>
        </p:nvSpPr>
        <p:spPr>
          <a:xfrm>
            <a:off x="6583680" y="448056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•  Social media models already benefit from 812 posts and show strong results</a:t>
            </a:r>
            <a:endParaRPr/>
          </a:p>
        </p:txBody>
      </p:sp>
      <p:sp>
        <p:nvSpPr>
          <p:cNvPr id="570" name="Google Shape;570;p20"/>
          <p:cNvSpPr txBox="1"/>
          <p:nvPr/>
        </p:nvSpPr>
        <p:spPr>
          <a:xfrm>
            <a:off x="6583680" y="502920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•  Architecture is built to scale, predictions stabilize with volume</a:t>
            </a:r>
            <a:endParaRPr/>
          </a:p>
        </p:txBody>
      </p:sp>
      <p:sp>
        <p:nvSpPr>
          <p:cNvPr id="571" name="Google Shape;571;p20"/>
          <p:cNvSpPr txBox="1"/>
          <p:nvPr/>
        </p:nvSpPr>
        <p:spPr>
          <a:xfrm>
            <a:off x="1523847" y="6126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pipelines are production-ready. The data just needs time to accumulate.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1"/>
          <p:cNvSpPr txBox="1"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DONOR INTELLIGENCE</a:t>
            </a:r>
            <a:endParaRPr/>
          </a:p>
        </p:txBody>
      </p:sp>
      <p:sp>
        <p:nvSpPr>
          <p:cNvPr id="578" name="Google Shape;578;p21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We Know Who Is About to Stop Donating</a:t>
            </a:r>
            <a:endParaRPr/>
          </a:p>
        </p:txBody>
      </p:sp>
      <p:sp>
        <p:nvSpPr>
          <p:cNvPr id="579" name="Google Shape;579;p21"/>
          <p:cNvSpPr txBox="1"/>
          <p:nvPr/>
        </p:nvSpPr>
        <p:spPr>
          <a:xfrm>
            <a:off x="3352647" y="1554485"/>
            <a:ext cx="5486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FF9F43"/>
                </a:solidFill>
                <a:latin typeface="Georgia"/>
                <a:ea typeface="Georgia"/>
                <a:cs typeface="Georgia"/>
                <a:sym typeface="Georgia"/>
              </a:rPr>
              <a:t>75%</a:t>
            </a:r>
            <a:endParaRPr/>
          </a:p>
        </p:txBody>
      </p:sp>
      <p:sp>
        <p:nvSpPr>
          <p:cNvPr id="580" name="Google Shape;580;p21"/>
          <p:cNvSpPr txBox="1"/>
          <p:nvPr/>
        </p:nvSpPr>
        <p:spPr>
          <a:xfrm>
            <a:off x="3352647" y="38404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Test accuracy  •  71 donors  •  Naive Bayes</a:t>
            </a:r>
            <a:endParaRPr/>
          </a:p>
        </p:txBody>
      </p:sp>
      <p:sp>
        <p:nvSpPr>
          <p:cNvPr id="581" name="Google Shape;581;p21"/>
          <p:cNvSpPr txBox="1"/>
          <p:nvPr/>
        </p:nvSpPr>
        <p:spPr>
          <a:xfrm>
            <a:off x="1523847" y="475488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Widening donation gaps nearly double churn odds</a:t>
            </a:r>
            <a:endParaRPr/>
          </a:p>
        </p:txBody>
      </p:sp>
      <p:sp>
        <p:nvSpPr>
          <p:cNvPr id="582" name="Google Shape;582;p21"/>
          <p:cNvSpPr txBox="1"/>
          <p:nvPr/>
        </p:nvSpPr>
        <p:spPr>
          <a:xfrm>
            <a:off x="1523847" y="59436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Logistic Regression explainer  •  EPV-constrained to 2 features  •  Threshold 0.4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2"/>
          <p:cNvSpPr txBox="1"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RESIDENT OUTCOMES</a:t>
            </a:r>
            <a:endParaRPr/>
          </a:p>
        </p:txBody>
      </p:sp>
      <p:sp>
        <p:nvSpPr>
          <p:cNvPr id="589" name="Google Shape;589;p2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F1B2D"/>
                </a:solidFill>
                <a:latin typeface="Georgia"/>
                <a:ea typeface="Georgia"/>
                <a:cs typeface="Georgia"/>
                <a:sym typeface="Georgia"/>
              </a:rPr>
              <a:t>Reintegration Readiness &amp; Incident Warning</a:t>
            </a:r>
            <a:endParaRPr/>
          </a:p>
        </p:txBody>
      </p:sp>
      <p:sp>
        <p:nvSpPr>
          <p:cNvPr id="590" name="Google Shape;590;p22"/>
          <p:cNvSpPr/>
          <p:nvPr/>
        </p:nvSpPr>
        <p:spPr>
          <a:xfrm>
            <a:off x="548640" y="2011680"/>
            <a:ext cx="539496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2"/>
          <p:cNvSpPr/>
          <p:nvPr/>
        </p:nvSpPr>
        <p:spPr>
          <a:xfrm>
            <a:off x="548640" y="2011680"/>
            <a:ext cx="64008" cy="4389120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2"/>
          <p:cNvSpPr txBox="1"/>
          <p:nvPr/>
        </p:nvSpPr>
        <p:spPr>
          <a:xfrm>
            <a:off x="822960" y="21945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Reintegration Readiness</a:t>
            </a:r>
            <a:endParaRPr/>
          </a:p>
        </p:txBody>
      </p:sp>
      <p:sp>
        <p:nvSpPr>
          <p:cNvPr id="593" name="Google Shape;593;p22"/>
          <p:cNvSpPr txBox="1"/>
          <p:nvPr/>
        </p:nvSpPr>
        <p:spPr>
          <a:xfrm>
            <a:off x="822960" y="269748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Stacking Ensemble  |  Test AUC 1.0  |  8 features</a:t>
            </a:r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822960" y="320040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•  Predicts which residents are ready for safe reintegration</a:t>
            </a:r>
            <a:endParaRPr/>
          </a:p>
        </p:txBody>
      </p:sp>
      <p:sp>
        <p:nvSpPr>
          <p:cNvPr id="595" name="Google Shape;595;p22"/>
          <p:cNvSpPr txBox="1"/>
          <p:nvPr/>
        </p:nvSpPr>
        <p:spPr>
          <a:xfrm>
            <a:off x="822960" y="388620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•  Top drivers: reintegration assessments, visits per month, total visits</a:t>
            </a:r>
            <a:endParaRPr/>
          </a:p>
        </p:txBody>
      </p:sp>
      <p:sp>
        <p:nvSpPr>
          <p:cNvPr id="596" name="Google Shape;596;p22"/>
          <p:cNvSpPr txBox="1"/>
          <p:nvPr/>
        </p:nvSpPr>
        <p:spPr>
          <a:xfrm>
            <a:off x="822960" y="457200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•  Courses completed inversely correlated (p=0.006), signals resident not yet ready</a:t>
            </a:r>
            <a:endParaRPr/>
          </a:p>
        </p:txBody>
      </p:sp>
      <p:sp>
        <p:nvSpPr>
          <p:cNvPr id="597" name="Google Shape;597;p22"/>
          <p:cNvSpPr txBox="1"/>
          <p:nvPr/>
        </p:nvSpPr>
        <p:spPr>
          <a:xfrm>
            <a:off x="822960" y="525780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•  OLS explainer: Adj R² 0.31, psych checkups approach significance (p=0.099)</a:t>
            </a:r>
            <a:endParaRPr/>
          </a:p>
        </p:txBody>
      </p:sp>
      <p:sp>
        <p:nvSpPr>
          <p:cNvPr id="598" name="Google Shape;598;p22"/>
          <p:cNvSpPr/>
          <p:nvPr/>
        </p:nvSpPr>
        <p:spPr>
          <a:xfrm>
            <a:off x="6309360" y="2011680"/>
            <a:ext cx="539496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2"/>
          <p:cNvSpPr/>
          <p:nvPr/>
        </p:nvSpPr>
        <p:spPr>
          <a:xfrm>
            <a:off x="6309360" y="2011680"/>
            <a:ext cx="64008" cy="4389120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2"/>
          <p:cNvSpPr txBox="1"/>
          <p:nvPr/>
        </p:nvSpPr>
        <p:spPr>
          <a:xfrm>
            <a:off x="6583680" y="21945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Incident Early Warning</a:t>
            </a:r>
            <a:endParaRPr/>
          </a:p>
        </p:txBody>
      </p:sp>
      <p:sp>
        <p:nvSpPr>
          <p:cNvPr id="601" name="Google Shape;601;p22"/>
          <p:cNvSpPr txBox="1"/>
          <p:nvPr/>
        </p:nvSpPr>
        <p:spPr>
          <a:xfrm>
            <a:off x="6583680" y="269748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Decision Tree  |  Self-harm CV AUC 0.77  |  100% recall</a:t>
            </a:r>
            <a:endParaRPr/>
          </a:p>
        </p:txBody>
      </p:sp>
      <p:sp>
        <p:nvSpPr>
          <p:cNvPr id="602" name="Google Shape;602;p22"/>
          <p:cNvSpPr txBox="1"/>
          <p:nvPr/>
        </p:nvSpPr>
        <p:spPr>
          <a:xfrm>
            <a:off x="6583680" y="320040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•  Dual model flags self-harm and runaway risk before incidents occur</a:t>
            </a:r>
            <a:endParaRPr/>
          </a:p>
        </p:txBody>
      </p:sp>
      <p:sp>
        <p:nvSpPr>
          <p:cNvPr id="603" name="Google Shape;603;p22"/>
          <p:cNvSpPr txBox="1"/>
          <p:nvPr/>
        </p:nvSpPr>
        <p:spPr>
          <a:xfrm>
            <a:off x="6583680" y="388620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•  Sexual abuse history is the dominant self-harm predictor (46x odds, p&lt;0.001)</a:t>
            </a:r>
            <a:endParaRPr/>
          </a:p>
        </p:txBody>
      </p:sp>
      <p:sp>
        <p:nvSpPr>
          <p:cNvPr id="604" name="Google Shape;604;p22"/>
          <p:cNvSpPr txBox="1"/>
          <p:nvPr/>
        </p:nvSpPr>
        <p:spPr>
          <a:xfrm>
            <a:off x="6583680" y="457200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•  Initial risk score drives runaway prediction (5.1x odds, p=0.002)</a:t>
            </a:r>
            <a:endParaRPr/>
          </a:p>
        </p:txBody>
      </p:sp>
      <p:sp>
        <p:nvSpPr>
          <p:cNvPr id="605" name="Google Shape;605;p22"/>
          <p:cNvSpPr txBox="1"/>
          <p:nvPr/>
        </p:nvSpPr>
        <p:spPr>
          <a:xfrm>
            <a:off x="6583680" y="525780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•  Explainer CV AUC: self-harm 0.91, runaway 0.82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3"/>
          <p:cNvSpPr txBox="1"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SOCIAL MEDIA STRATEGY</a:t>
            </a:r>
            <a:endParaRPr/>
          </a:p>
        </p:txBody>
      </p:sp>
      <p:sp>
        <p:nvSpPr>
          <p:cNvPr id="612" name="Google Shape;612;p2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We Know What Content Works</a:t>
            </a:r>
            <a:endParaRPr/>
          </a:p>
        </p:txBody>
      </p:sp>
      <p:sp>
        <p:nvSpPr>
          <p:cNvPr id="613" name="Google Shape;613;p23"/>
          <p:cNvSpPr txBox="1"/>
          <p:nvPr/>
        </p:nvSpPr>
        <p:spPr>
          <a:xfrm>
            <a:off x="3352647" y="1554485"/>
            <a:ext cx="5486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14B8A4"/>
                </a:solidFill>
                <a:latin typeface="Georgia"/>
                <a:ea typeface="Georgia"/>
                <a:cs typeface="Georgia"/>
                <a:sym typeface="Georgia"/>
              </a:rPr>
              <a:t>7.3x</a:t>
            </a:r>
            <a:endParaRPr/>
          </a:p>
        </p:txBody>
      </p:sp>
      <p:sp>
        <p:nvSpPr>
          <p:cNvPr id="614" name="Google Shape;614;p23"/>
          <p:cNvSpPr txBox="1"/>
          <p:nvPr/>
        </p:nvSpPr>
        <p:spPr>
          <a:xfrm>
            <a:off x="1523847" y="384048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More donation referrals from resident stories  •  812 posts  •  p&lt;0.001</a:t>
            </a:r>
            <a:endParaRPr/>
          </a:p>
        </p:txBody>
      </p:sp>
      <p:sp>
        <p:nvSpPr>
          <p:cNvPr id="615" name="Google Shape;615;p23"/>
          <p:cNvSpPr txBox="1"/>
          <p:nvPr/>
        </p:nvSpPr>
        <p:spPr>
          <a:xfrm>
            <a:off x="1523847" y="475488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Findings feed directly into the AI content engine</a:t>
            </a:r>
            <a:endParaRPr/>
          </a:p>
        </p:txBody>
      </p:sp>
      <p:sp>
        <p:nvSpPr>
          <p:cNvPr id="616" name="Google Shape;616;p23"/>
          <p:cNvSpPr txBox="1"/>
          <p:nvPr/>
        </p:nvSpPr>
        <p:spPr>
          <a:xfrm>
            <a:off x="1523847" y="59436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OLS (content, Adj R² 0.29)  •  Gradient Boosting (timing, R² 0.46, MAE 3pp)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4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MODEL PERFORMANCE</a:t>
            </a:r>
            <a:endParaRPr/>
          </a:p>
        </p:txBody>
      </p:sp>
      <p:sp>
        <p:nvSpPr>
          <p:cNvPr id="623" name="Google Shape;623;p24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8 Pipelines, 3 Paired Domains</a:t>
            </a:r>
            <a:endParaRPr/>
          </a:p>
        </p:txBody>
      </p:sp>
      <p:sp>
        <p:nvSpPr>
          <p:cNvPr id="624" name="Google Shape;624;p24"/>
          <p:cNvSpPr txBox="1"/>
          <p:nvPr/>
        </p:nvSpPr>
        <p:spPr>
          <a:xfrm>
            <a:off x="731520" y="18288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/>
          </a:p>
        </p:txBody>
      </p:sp>
      <p:sp>
        <p:nvSpPr>
          <p:cNvPr id="625" name="Google Shape;625;p24"/>
          <p:cNvSpPr txBox="1"/>
          <p:nvPr/>
        </p:nvSpPr>
        <p:spPr>
          <a:xfrm>
            <a:off x="4023360" y="18288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/>
          </a:p>
        </p:txBody>
      </p:sp>
      <p:sp>
        <p:nvSpPr>
          <p:cNvPr id="626" name="Google Shape;626;p24"/>
          <p:cNvSpPr txBox="1"/>
          <p:nvPr/>
        </p:nvSpPr>
        <p:spPr>
          <a:xfrm>
            <a:off x="6126480" y="18288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Key Metric</a:t>
            </a:r>
            <a:endParaRPr/>
          </a:p>
        </p:txBody>
      </p:sp>
      <p:sp>
        <p:nvSpPr>
          <p:cNvPr id="627" name="Google Shape;627;p24"/>
          <p:cNvSpPr txBox="1"/>
          <p:nvPr/>
        </p:nvSpPr>
        <p:spPr>
          <a:xfrm>
            <a:off x="8321040" y="182880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Standout Insight</a:t>
            </a:r>
            <a:endParaRPr/>
          </a:p>
        </p:txBody>
      </p:sp>
      <p:sp>
        <p:nvSpPr>
          <p:cNvPr id="628" name="Google Shape;628;p24"/>
          <p:cNvSpPr/>
          <p:nvPr/>
        </p:nvSpPr>
        <p:spPr>
          <a:xfrm>
            <a:off x="731520" y="2240280"/>
            <a:ext cx="10972800" cy="27432"/>
          </a:xfrm>
          <a:prstGeom prst="rect">
            <a:avLst/>
          </a:prstGeom>
          <a:solidFill>
            <a:srgbClr val="2E4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4"/>
          <p:cNvSpPr/>
          <p:nvPr/>
        </p:nvSpPr>
        <p:spPr>
          <a:xfrm>
            <a:off x="548640" y="2359152"/>
            <a:ext cx="11338560" cy="475488"/>
          </a:xfrm>
          <a:prstGeom prst="rect">
            <a:avLst/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4"/>
          <p:cNvSpPr txBox="1"/>
          <p:nvPr/>
        </p:nvSpPr>
        <p:spPr>
          <a:xfrm>
            <a:off x="731520" y="23774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Reintegration Readiness</a:t>
            </a:r>
            <a:endParaRPr/>
          </a:p>
        </p:txBody>
      </p:sp>
      <p:sp>
        <p:nvSpPr>
          <p:cNvPr id="631" name="Google Shape;631;p24"/>
          <p:cNvSpPr txBox="1"/>
          <p:nvPr/>
        </p:nvSpPr>
        <p:spPr>
          <a:xfrm>
            <a:off x="4023360" y="23774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Stacking</a:t>
            </a:r>
            <a:endParaRPr/>
          </a:p>
        </p:txBody>
      </p:sp>
      <p:sp>
        <p:nvSpPr>
          <p:cNvPr id="632" name="Google Shape;632;p24"/>
          <p:cNvSpPr txBox="1"/>
          <p:nvPr/>
        </p:nvSpPr>
        <p:spPr>
          <a:xfrm>
            <a:off x="6126480" y="23774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Test AUC 1.0</a:t>
            </a:r>
            <a:endParaRPr/>
          </a:p>
        </p:txBody>
      </p:sp>
      <p:sp>
        <p:nvSpPr>
          <p:cNvPr id="633" name="Google Shape;633;p24"/>
          <p:cNvSpPr txBox="1"/>
          <p:nvPr/>
        </p:nvSpPr>
        <p:spPr>
          <a:xfrm>
            <a:off x="8321040" y="237744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8 features after iterative PFI</a:t>
            </a:r>
            <a:endParaRPr/>
          </a:p>
        </p:txBody>
      </p:sp>
      <p:sp>
        <p:nvSpPr>
          <p:cNvPr id="634" name="Google Shape;634;p24"/>
          <p:cNvSpPr txBox="1"/>
          <p:nvPr/>
        </p:nvSpPr>
        <p:spPr>
          <a:xfrm>
            <a:off x="731520" y="288036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Reintegration Drivers</a:t>
            </a:r>
            <a:endParaRPr/>
          </a:p>
        </p:txBody>
      </p:sp>
      <p:sp>
        <p:nvSpPr>
          <p:cNvPr id="635" name="Google Shape;635;p24"/>
          <p:cNvSpPr txBox="1"/>
          <p:nvPr/>
        </p:nvSpPr>
        <p:spPr>
          <a:xfrm>
            <a:off x="4023360" y="28803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OLS</a:t>
            </a:r>
            <a:endParaRPr/>
          </a:p>
        </p:txBody>
      </p:sp>
      <p:sp>
        <p:nvSpPr>
          <p:cNvPr id="636" name="Google Shape;636;p24"/>
          <p:cNvSpPr txBox="1"/>
          <p:nvPr/>
        </p:nvSpPr>
        <p:spPr>
          <a:xfrm>
            <a:off x="6126480" y="28803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Adj R² 31%</a:t>
            </a:r>
            <a:endParaRPr/>
          </a:p>
        </p:txBody>
      </p:sp>
      <p:sp>
        <p:nvSpPr>
          <p:cNvPr id="637" name="Google Shape;637;p24"/>
          <p:cNvSpPr txBox="1"/>
          <p:nvPr/>
        </p:nvSpPr>
        <p:spPr>
          <a:xfrm>
            <a:off x="8321040" y="288036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Courses completed (p=0.006)</a:t>
            </a:r>
            <a:endParaRPr/>
          </a:p>
        </p:txBody>
      </p:sp>
      <p:sp>
        <p:nvSpPr>
          <p:cNvPr id="638" name="Google Shape;638;p24"/>
          <p:cNvSpPr/>
          <p:nvPr/>
        </p:nvSpPr>
        <p:spPr>
          <a:xfrm>
            <a:off x="548640" y="3364992"/>
            <a:ext cx="11338560" cy="475488"/>
          </a:xfrm>
          <a:prstGeom prst="rect">
            <a:avLst/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4"/>
          <p:cNvSpPr txBox="1"/>
          <p:nvPr/>
        </p:nvSpPr>
        <p:spPr>
          <a:xfrm>
            <a:off x="731520" y="33832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Donor Churn</a:t>
            </a:r>
            <a:endParaRPr/>
          </a:p>
        </p:txBody>
      </p:sp>
      <p:sp>
        <p:nvSpPr>
          <p:cNvPr id="640" name="Google Shape;640;p24"/>
          <p:cNvSpPr txBox="1"/>
          <p:nvPr/>
        </p:nvSpPr>
        <p:spPr>
          <a:xfrm>
            <a:off x="4023360" y="33832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Naive Bayes</a:t>
            </a:r>
            <a:endParaRPr/>
          </a:p>
        </p:txBody>
      </p:sp>
      <p:sp>
        <p:nvSpPr>
          <p:cNvPr id="641" name="Google Shape;641;p24"/>
          <p:cNvSpPr txBox="1"/>
          <p:nvPr/>
        </p:nvSpPr>
        <p:spPr>
          <a:xfrm>
            <a:off x="6126480" y="33832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Acc 75%</a:t>
            </a:r>
            <a:endParaRPr/>
          </a:p>
        </p:txBody>
      </p:sp>
      <p:sp>
        <p:nvSpPr>
          <p:cNvPr id="642" name="Google Shape;642;p24"/>
          <p:cNvSpPr txBox="1"/>
          <p:nvPr/>
        </p:nvSpPr>
        <p:spPr>
          <a:xfrm>
            <a:off x="8321040" y="338328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17 features, threshold 0.4</a:t>
            </a:r>
            <a:endParaRPr/>
          </a:p>
        </p:txBody>
      </p:sp>
      <p:sp>
        <p:nvSpPr>
          <p:cNvPr id="643" name="Google Shape;643;p24"/>
          <p:cNvSpPr txBox="1"/>
          <p:nvPr/>
        </p:nvSpPr>
        <p:spPr>
          <a:xfrm>
            <a:off x="731520" y="38862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Donor Churn Drivers</a:t>
            </a:r>
            <a:endParaRPr/>
          </a:p>
        </p:txBody>
      </p:sp>
      <p:sp>
        <p:nvSpPr>
          <p:cNvPr id="644" name="Google Shape;644;p24"/>
          <p:cNvSpPr txBox="1"/>
          <p:nvPr/>
        </p:nvSpPr>
        <p:spPr>
          <a:xfrm>
            <a:off x="4023360" y="388620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Logistic</a:t>
            </a:r>
            <a:endParaRPr/>
          </a:p>
        </p:txBody>
      </p:sp>
      <p:sp>
        <p:nvSpPr>
          <p:cNvPr id="645" name="Google Shape;645;p24"/>
          <p:cNvSpPr txBox="1"/>
          <p:nvPr/>
        </p:nvSpPr>
        <p:spPr>
          <a:xfrm>
            <a:off x="6126480" y="388620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OR 1.93</a:t>
            </a:r>
            <a:endParaRPr/>
          </a:p>
        </p:txBody>
      </p:sp>
      <p:sp>
        <p:nvSpPr>
          <p:cNvPr id="646" name="Google Shape;646;p24"/>
          <p:cNvSpPr txBox="1"/>
          <p:nvPr/>
        </p:nvSpPr>
        <p:spPr>
          <a:xfrm>
            <a:off x="8321040" y="388620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Gap trend nearly doubles odds</a:t>
            </a:r>
            <a:endParaRPr/>
          </a:p>
        </p:txBody>
      </p:sp>
      <p:sp>
        <p:nvSpPr>
          <p:cNvPr id="647" name="Google Shape;647;p24"/>
          <p:cNvSpPr/>
          <p:nvPr/>
        </p:nvSpPr>
        <p:spPr>
          <a:xfrm>
            <a:off x="548640" y="4370832"/>
            <a:ext cx="11338560" cy="475488"/>
          </a:xfrm>
          <a:prstGeom prst="rect">
            <a:avLst/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4"/>
          <p:cNvSpPr txBox="1"/>
          <p:nvPr/>
        </p:nvSpPr>
        <p:spPr>
          <a:xfrm>
            <a:off x="731520" y="438912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Incident Warning (SH)</a:t>
            </a:r>
            <a:endParaRPr/>
          </a:p>
        </p:txBody>
      </p:sp>
      <p:sp>
        <p:nvSpPr>
          <p:cNvPr id="649" name="Google Shape;649;p24"/>
          <p:cNvSpPr txBox="1"/>
          <p:nvPr/>
        </p:nvSpPr>
        <p:spPr>
          <a:xfrm>
            <a:off x="4023360" y="43891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/>
          </a:p>
        </p:txBody>
      </p:sp>
      <p:sp>
        <p:nvSpPr>
          <p:cNvPr id="650" name="Google Shape;650;p24"/>
          <p:cNvSpPr txBox="1"/>
          <p:nvPr/>
        </p:nvSpPr>
        <p:spPr>
          <a:xfrm>
            <a:off x="6126480" y="43891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CV AUC 0.77</a:t>
            </a:r>
            <a:endParaRPr/>
          </a:p>
        </p:txBody>
      </p:sp>
      <p:sp>
        <p:nvSpPr>
          <p:cNvPr id="651" name="Google Shape;651;p24"/>
          <p:cNvSpPr txBox="1"/>
          <p:nvPr/>
        </p:nvSpPr>
        <p:spPr>
          <a:xfrm>
            <a:off x="8321040" y="438912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100% recall, 3 features</a:t>
            </a:r>
            <a:endParaRPr/>
          </a:p>
        </p:txBody>
      </p:sp>
      <p:sp>
        <p:nvSpPr>
          <p:cNvPr id="652" name="Google Shape;652;p24"/>
          <p:cNvSpPr txBox="1"/>
          <p:nvPr/>
        </p:nvSpPr>
        <p:spPr>
          <a:xfrm>
            <a:off x="731520" y="48920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Incident Warning (RW)</a:t>
            </a:r>
            <a:endParaRPr/>
          </a:p>
        </p:txBody>
      </p:sp>
      <p:sp>
        <p:nvSpPr>
          <p:cNvPr id="653" name="Google Shape;653;p24"/>
          <p:cNvSpPr txBox="1"/>
          <p:nvPr/>
        </p:nvSpPr>
        <p:spPr>
          <a:xfrm>
            <a:off x="4023360" y="48920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/>
          </a:p>
        </p:txBody>
      </p:sp>
      <p:sp>
        <p:nvSpPr>
          <p:cNvPr id="654" name="Google Shape;654;p24"/>
          <p:cNvSpPr txBox="1"/>
          <p:nvPr/>
        </p:nvSpPr>
        <p:spPr>
          <a:xfrm>
            <a:off x="6126480" y="48920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Recall 100%</a:t>
            </a:r>
            <a:endParaRPr/>
          </a:p>
        </p:txBody>
      </p:sp>
      <p:sp>
        <p:nvSpPr>
          <p:cNvPr id="655" name="Google Shape;655;p24"/>
          <p:cNvSpPr txBox="1"/>
          <p:nvPr/>
        </p:nvSpPr>
        <p:spPr>
          <a:xfrm>
            <a:off x="8321040" y="489204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12 features, age + trauma</a:t>
            </a:r>
            <a:endParaRPr/>
          </a:p>
        </p:txBody>
      </p:sp>
      <p:sp>
        <p:nvSpPr>
          <p:cNvPr id="656" name="Google Shape;656;p24"/>
          <p:cNvSpPr/>
          <p:nvPr/>
        </p:nvSpPr>
        <p:spPr>
          <a:xfrm>
            <a:off x="548640" y="5376672"/>
            <a:ext cx="11338560" cy="475488"/>
          </a:xfrm>
          <a:prstGeom prst="rect">
            <a:avLst/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4"/>
          <p:cNvSpPr txBox="1"/>
          <p:nvPr/>
        </p:nvSpPr>
        <p:spPr>
          <a:xfrm>
            <a:off x="731520" y="539496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Social Media Content</a:t>
            </a:r>
            <a:endParaRPr/>
          </a:p>
        </p:txBody>
      </p:sp>
      <p:sp>
        <p:nvSpPr>
          <p:cNvPr id="658" name="Google Shape;658;p24"/>
          <p:cNvSpPr txBox="1"/>
          <p:nvPr/>
        </p:nvSpPr>
        <p:spPr>
          <a:xfrm>
            <a:off x="4023360" y="53949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OLS</a:t>
            </a:r>
            <a:endParaRPr/>
          </a:p>
        </p:txBody>
      </p:sp>
      <p:sp>
        <p:nvSpPr>
          <p:cNvPr id="659" name="Google Shape;659;p24"/>
          <p:cNvSpPr txBox="1"/>
          <p:nvPr/>
        </p:nvSpPr>
        <p:spPr>
          <a:xfrm>
            <a:off x="6126480" y="53949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Adj R² 29%</a:t>
            </a:r>
            <a:endParaRPr/>
          </a:p>
        </p:txBody>
      </p:sp>
      <p:sp>
        <p:nvSpPr>
          <p:cNvPr id="660" name="Google Shape;660;p24"/>
          <p:cNvSpPr txBox="1"/>
          <p:nvPr/>
        </p:nvSpPr>
        <p:spPr>
          <a:xfrm>
            <a:off x="8321040" y="539496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Resident stories = 7.3x referrals</a:t>
            </a:r>
            <a:endParaRPr/>
          </a:p>
        </p:txBody>
      </p:sp>
      <p:sp>
        <p:nvSpPr>
          <p:cNvPr id="661" name="Google Shape;661;p24"/>
          <p:cNvSpPr txBox="1"/>
          <p:nvPr/>
        </p:nvSpPr>
        <p:spPr>
          <a:xfrm>
            <a:off x="731520" y="58978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Social Media Timing</a:t>
            </a:r>
            <a:endParaRPr/>
          </a:p>
        </p:txBody>
      </p:sp>
      <p:sp>
        <p:nvSpPr>
          <p:cNvPr id="662" name="Google Shape;662;p24"/>
          <p:cNvSpPr txBox="1"/>
          <p:nvPr/>
        </p:nvSpPr>
        <p:spPr>
          <a:xfrm>
            <a:off x="4023360" y="58978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Gradient Boost</a:t>
            </a:r>
            <a:endParaRPr/>
          </a:p>
        </p:txBody>
      </p:sp>
      <p:sp>
        <p:nvSpPr>
          <p:cNvPr id="663" name="Google Shape;663;p24"/>
          <p:cNvSpPr txBox="1"/>
          <p:nvPr/>
        </p:nvSpPr>
        <p:spPr>
          <a:xfrm>
            <a:off x="6126480" y="58978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R² 46%</a:t>
            </a:r>
            <a:endParaRPr/>
          </a:p>
        </p:txBody>
      </p:sp>
      <p:sp>
        <p:nvSpPr>
          <p:cNvPr id="664" name="Google Shape;664;p24"/>
          <p:cNvSpPr txBox="1"/>
          <p:nvPr/>
        </p:nvSpPr>
        <p:spPr>
          <a:xfrm>
            <a:off x="8321040" y="589788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MAE 3.0 pp, post hour r=0.44</a:t>
            </a:r>
            <a:endParaRPr/>
          </a:p>
        </p:txBody>
      </p:sp>
      <p:sp>
        <p:nvSpPr>
          <p:cNvPr id="665" name="Google Shape;665;p24"/>
          <p:cNvSpPr txBox="1"/>
          <p:nvPr/>
        </p:nvSpPr>
        <p:spPr>
          <a:xfrm>
            <a:off x="1523847" y="64008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Every domain pairs a predictive model (what will happen) with an</a:t>
            </a:r>
            <a:br>
              <a:rPr b="0" i="1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explanatory model (why), selected from 10+ candidate algorithms.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5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ML IN THE APP</a:t>
            </a:r>
            <a:endParaRPr/>
          </a:p>
        </p:txBody>
      </p:sp>
      <p:sp>
        <p:nvSpPr>
          <p:cNvPr id="672" name="Google Shape;672;p25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0F1B2D"/>
                </a:solidFill>
                <a:latin typeface="Georgia"/>
                <a:ea typeface="Georgia"/>
                <a:cs typeface="Georgia"/>
                <a:sym typeface="Georgia"/>
              </a:rPr>
              <a:t>Where Users See Predictions</a:t>
            </a:r>
            <a:endParaRPr/>
          </a:p>
        </p:txBody>
      </p:sp>
      <p:sp>
        <p:nvSpPr>
          <p:cNvPr id="673" name="Google Shape;673;p25"/>
          <p:cNvSpPr/>
          <p:nvPr/>
        </p:nvSpPr>
        <p:spPr>
          <a:xfrm>
            <a:off x="457200" y="2011680"/>
            <a:ext cx="2697480" cy="320040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5"/>
          <p:cNvSpPr/>
          <p:nvPr/>
        </p:nvSpPr>
        <p:spPr>
          <a:xfrm>
            <a:off x="457200" y="2011680"/>
            <a:ext cx="2697480" cy="54864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5"/>
          <p:cNvSpPr txBox="1"/>
          <p:nvPr/>
        </p:nvSpPr>
        <p:spPr>
          <a:xfrm>
            <a:off x="594360" y="22860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Resident Profile</a:t>
            </a:r>
            <a:endParaRPr/>
          </a:p>
        </p:txBody>
      </p:sp>
      <p:sp>
        <p:nvSpPr>
          <p:cNvPr id="676" name="Google Shape;676;p25"/>
          <p:cNvSpPr txBox="1"/>
          <p:nvPr/>
        </p:nvSpPr>
        <p:spPr>
          <a:xfrm>
            <a:off x="594360" y="2834640"/>
            <a:ext cx="2423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Readiness score + risk badge</a:t>
            </a:r>
            <a:br>
              <a:rPr b="0" i="0" lang="en-US" sz="14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on every resident’s page</a:t>
            </a:r>
            <a:endParaRPr/>
          </a:p>
        </p:txBody>
      </p:sp>
      <p:sp>
        <p:nvSpPr>
          <p:cNvPr id="677" name="Google Shape;677;p25"/>
          <p:cNvSpPr/>
          <p:nvPr/>
        </p:nvSpPr>
        <p:spPr>
          <a:xfrm>
            <a:off x="3337560" y="2011680"/>
            <a:ext cx="2697480" cy="320040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5"/>
          <p:cNvSpPr/>
          <p:nvPr/>
        </p:nvSpPr>
        <p:spPr>
          <a:xfrm>
            <a:off x="3337560" y="2011680"/>
            <a:ext cx="2697480" cy="54864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5"/>
          <p:cNvSpPr txBox="1"/>
          <p:nvPr/>
        </p:nvSpPr>
        <p:spPr>
          <a:xfrm>
            <a:off x="3474720" y="22860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Admin Dashboard</a:t>
            </a:r>
            <a:endParaRPr/>
          </a:p>
        </p:txBody>
      </p:sp>
      <p:sp>
        <p:nvSpPr>
          <p:cNvPr id="680" name="Google Shape;680;p25"/>
          <p:cNvSpPr txBox="1"/>
          <p:nvPr/>
        </p:nvSpPr>
        <p:spPr>
          <a:xfrm>
            <a:off x="3474720" y="2834640"/>
            <a:ext cx="2423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Priority case queue ranked</a:t>
            </a:r>
            <a:br>
              <a:rPr b="0" i="0" lang="en-US" sz="14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by incident risk</a:t>
            </a:r>
            <a:endParaRPr/>
          </a:p>
        </p:txBody>
      </p:sp>
      <p:sp>
        <p:nvSpPr>
          <p:cNvPr id="681" name="Google Shape;681;p25"/>
          <p:cNvSpPr/>
          <p:nvPr/>
        </p:nvSpPr>
        <p:spPr>
          <a:xfrm>
            <a:off x="6217920" y="2011680"/>
            <a:ext cx="2697480" cy="320040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5"/>
          <p:cNvSpPr/>
          <p:nvPr/>
        </p:nvSpPr>
        <p:spPr>
          <a:xfrm>
            <a:off x="6217920" y="2011680"/>
            <a:ext cx="2697480" cy="54864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5"/>
          <p:cNvSpPr txBox="1"/>
          <p:nvPr/>
        </p:nvSpPr>
        <p:spPr>
          <a:xfrm>
            <a:off x="6355080" y="22860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Donor Management</a:t>
            </a:r>
            <a:endParaRPr/>
          </a:p>
        </p:txBody>
      </p:sp>
      <p:sp>
        <p:nvSpPr>
          <p:cNvPr id="684" name="Google Shape;684;p25"/>
          <p:cNvSpPr txBox="1"/>
          <p:nvPr/>
        </p:nvSpPr>
        <p:spPr>
          <a:xfrm>
            <a:off x="6355080" y="2834640"/>
            <a:ext cx="2423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Churn risk flag on each</a:t>
            </a:r>
            <a:br>
              <a:rPr b="0" i="0" lang="en-US" sz="14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donor profile</a:t>
            </a:r>
            <a:endParaRPr/>
          </a:p>
        </p:txBody>
      </p:sp>
      <p:sp>
        <p:nvSpPr>
          <p:cNvPr id="685" name="Google Shape;685;p25"/>
          <p:cNvSpPr/>
          <p:nvPr/>
        </p:nvSpPr>
        <p:spPr>
          <a:xfrm>
            <a:off x="9098280" y="2011680"/>
            <a:ext cx="2697480" cy="3200400"/>
          </a:xfrm>
          <a:prstGeom prst="rect">
            <a:avLst/>
          </a:prstGeom>
          <a:solidFill>
            <a:srgbClr val="F4F7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5"/>
          <p:cNvSpPr/>
          <p:nvPr/>
        </p:nvSpPr>
        <p:spPr>
          <a:xfrm>
            <a:off x="9098280" y="2011680"/>
            <a:ext cx="2697480" cy="54864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5"/>
          <p:cNvSpPr txBox="1"/>
          <p:nvPr/>
        </p:nvSpPr>
        <p:spPr>
          <a:xfrm>
            <a:off x="9235440" y="22860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AI Chatbot</a:t>
            </a:r>
            <a:endParaRPr/>
          </a:p>
        </p:txBody>
      </p:sp>
      <p:sp>
        <p:nvSpPr>
          <p:cNvPr id="688" name="Google Shape;688;p25"/>
          <p:cNvSpPr txBox="1"/>
          <p:nvPr/>
        </p:nvSpPr>
        <p:spPr>
          <a:xfrm>
            <a:off x="9235440" y="2834640"/>
            <a:ext cx="2423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Natural-language queries against</a:t>
            </a:r>
            <a:br>
              <a:rPr b="0" i="0" lang="en-US" sz="14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the database with charts and graphs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3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6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8F7D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</p:txBody>
      </p:sp>
      <p:sp>
        <p:nvSpPr>
          <p:cNvPr id="695" name="Google Shape;695;p26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0F1B2D"/>
                </a:solidFill>
                <a:latin typeface="Georgia"/>
                <a:ea typeface="Georgia"/>
                <a:cs typeface="Georgia"/>
                <a:sym typeface="Georgia"/>
              </a:rPr>
              <a:t>Protecting Vulnerable Data</a:t>
            </a:r>
            <a:endParaRPr/>
          </a:p>
        </p:txBody>
      </p:sp>
      <p:sp>
        <p:nvSpPr>
          <p:cNvPr id="696" name="Google Shape;696;p26"/>
          <p:cNvSpPr/>
          <p:nvPr/>
        </p:nvSpPr>
        <p:spPr>
          <a:xfrm>
            <a:off x="548640" y="2011680"/>
            <a:ext cx="34747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6"/>
          <p:cNvSpPr/>
          <p:nvPr/>
        </p:nvSpPr>
        <p:spPr>
          <a:xfrm>
            <a:off x="548640" y="2011680"/>
            <a:ext cx="3474720" cy="54864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6"/>
          <p:cNvSpPr txBox="1"/>
          <p:nvPr/>
        </p:nvSpPr>
        <p:spPr>
          <a:xfrm>
            <a:off x="777240" y="22860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HTTPS / TLS</a:t>
            </a:r>
            <a:endParaRPr/>
          </a:p>
        </p:txBody>
      </p:sp>
      <p:sp>
        <p:nvSpPr>
          <p:cNvPr id="699" name="Google Shape;699;p26"/>
          <p:cNvSpPr txBox="1"/>
          <p:nvPr/>
        </p:nvSpPr>
        <p:spPr>
          <a:xfrm>
            <a:off x="777240" y="278892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Valid cert, HTTP → HTTPS redirect</a:t>
            </a:r>
            <a:endParaRPr/>
          </a:p>
        </p:txBody>
      </p:sp>
      <p:sp>
        <p:nvSpPr>
          <p:cNvPr id="700" name="Google Shape;700;p26"/>
          <p:cNvSpPr/>
          <p:nvPr/>
        </p:nvSpPr>
        <p:spPr>
          <a:xfrm>
            <a:off x="4297679" y="2011680"/>
            <a:ext cx="34747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6"/>
          <p:cNvSpPr/>
          <p:nvPr/>
        </p:nvSpPr>
        <p:spPr>
          <a:xfrm>
            <a:off x="4297679" y="2011680"/>
            <a:ext cx="3474720" cy="54864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6"/>
          <p:cNvSpPr txBox="1"/>
          <p:nvPr/>
        </p:nvSpPr>
        <p:spPr>
          <a:xfrm>
            <a:off x="4526279" y="22860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/>
          </a:p>
        </p:txBody>
      </p:sp>
      <p:sp>
        <p:nvSpPr>
          <p:cNvPr id="703" name="Google Shape;703;p26"/>
          <p:cNvSpPr txBox="1"/>
          <p:nvPr/>
        </p:nvSpPr>
        <p:spPr>
          <a:xfrm>
            <a:off x="4526279" y="278892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ASP.NET Identity, strong passwords</a:t>
            </a:r>
            <a:endParaRPr/>
          </a:p>
        </p:txBody>
      </p:sp>
      <p:sp>
        <p:nvSpPr>
          <p:cNvPr id="704" name="Google Shape;704;p26"/>
          <p:cNvSpPr/>
          <p:nvPr/>
        </p:nvSpPr>
        <p:spPr>
          <a:xfrm>
            <a:off x="8046719" y="2011680"/>
            <a:ext cx="34747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6"/>
          <p:cNvSpPr/>
          <p:nvPr/>
        </p:nvSpPr>
        <p:spPr>
          <a:xfrm>
            <a:off x="8046719" y="2011680"/>
            <a:ext cx="3474720" cy="54864"/>
          </a:xfrm>
          <a:prstGeom prst="rect">
            <a:avLst/>
          </a:prstGeom>
          <a:solidFill>
            <a:srgbClr val="0F8F7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6"/>
          <p:cNvSpPr txBox="1"/>
          <p:nvPr/>
        </p:nvSpPr>
        <p:spPr>
          <a:xfrm>
            <a:off x="8275319" y="22860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RBAC</a:t>
            </a:r>
            <a:endParaRPr/>
          </a:p>
        </p:txBody>
      </p:sp>
      <p:sp>
        <p:nvSpPr>
          <p:cNvPr id="707" name="Google Shape;707;p26"/>
          <p:cNvSpPr txBox="1"/>
          <p:nvPr/>
        </p:nvSpPr>
        <p:spPr>
          <a:xfrm>
            <a:off x="8275319" y="278892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Admin, staff, donor roles gate access</a:t>
            </a:r>
            <a:endParaRPr/>
          </a:p>
        </p:txBody>
      </p:sp>
      <p:sp>
        <p:nvSpPr>
          <p:cNvPr id="708" name="Google Shape;708;p26"/>
          <p:cNvSpPr/>
          <p:nvPr/>
        </p:nvSpPr>
        <p:spPr>
          <a:xfrm>
            <a:off x="548640" y="4206240"/>
            <a:ext cx="34747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6"/>
          <p:cNvSpPr/>
          <p:nvPr/>
        </p:nvSpPr>
        <p:spPr>
          <a:xfrm>
            <a:off x="548640" y="4206240"/>
            <a:ext cx="3474720" cy="54864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6"/>
          <p:cNvSpPr txBox="1"/>
          <p:nvPr/>
        </p:nvSpPr>
        <p:spPr>
          <a:xfrm>
            <a:off x="777240" y="4480559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CSP Headers</a:t>
            </a:r>
            <a:endParaRPr/>
          </a:p>
        </p:txBody>
      </p:sp>
      <p:sp>
        <p:nvSpPr>
          <p:cNvPr id="711" name="Google Shape;711;p26"/>
          <p:cNvSpPr txBox="1"/>
          <p:nvPr/>
        </p:nvSpPr>
        <p:spPr>
          <a:xfrm>
            <a:off x="777240" y="4983479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Script/style/img sources restricted</a:t>
            </a:r>
            <a:endParaRPr/>
          </a:p>
        </p:txBody>
      </p:sp>
      <p:sp>
        <p:nvSpPr>
          <p:cNvPr id="712" name="Google Shape;712;p26"/>
          <p:cNvSpPr/>
          <p:nvPr/>
        </p:nvSpPr>
        <p:spPr>
          <a:xfrm>
            <a:off x="4297679" y="4206240"/>
            <a:ext cx="34747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6"/>
          <p:cNvSpPr/>
          <p:nvPr/>
        </p:nvSpPr>
        <p:spPr>
          <a:xfrm>
            <a:off x="4297679" y="4206240"/>
            <a:ext cx="3474720" cy="54864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6"/>
          <p:cNvSpPr txBox="1"/>
          <p:nvPr/>
        </p:nvSpPr>
        <p:spPr>
          <a:xfrm>
            <a:off x="4526279" y="4480559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GDPR Compliance</a:t>
            </a:r>
            <a:endParaRPr/>
          </a:p>
        </p:txBody>
      </p:sp>
      <p:sp>
        <p:nvSpPr>
          <p:cNvPr id="715" name="Google Shape;715;p26"/>
          <p:cNvSpPr txBox="1"/>
          <p:nvPr/>
        </p:nvSpPr>
        <p:spPr>
          <a:xfrm>
            <a:off x="4526279" y="4983479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Functional cookie consent + privacy policy</a:t>
            </a:r>
            <a:endParaRPr/>
          </a:p>
        </p:txBody>
      </p:sp>
      <p:sp>
        <p:nvSpPr>
          <p:cNvPr id="716" name="Google Shape;716;p26"/>
          <p:cNvSpPr/>
          <p:nvPr/>
        </p:nvSpPr>
        <p:spPr>
          <a:xfrm>
            <a:off x="8046719" y="4206240"/>
            <a:ext cx="34747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6"/>
          <p:cNvSpPr/>
          <p:nvPr/>
        </p:nvSpPr>
        <p:spPr>
          <a:xfrm>
            <a:off x="8046719" y="4206240"/>
            <a:ext cx="3474720" cy="54864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6"/>
          <p:cNvSpPr txBox="1"/>
          <p:nvPr/>
        </p:nvSpPr>
        <p:spPr>
          <a:xfrm>
            <a:off x="8275319" y="4480559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B2D"/>
                </a:solidFill>
                <a:latin typeface="Calibri"/>
                <a:ea typeface="Calibri"/>
                <a:cs typeface="Calibri"/>
                <a:sym typeface="Calibri"/>
              </a:rPr>
              <a:t>Credentials</a:t>
            </a:r>
            <a:endParaRPr/>
          </a:p>
        </p:txBody>
      </p:sp>
      <p:sp>
        <p:nvSpPr>
          <p:cNvPr id="719" name="Google Shape;719;p26"/>
          <p:cNvSpPr txBox="1"/>
          <p:nvPr/>
        </p:nvSpPr>
        <p:spPr>
          <a:xfrm>
            <a:off x="8275319" y="4983479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4963"/>
                </a:solidFill>
                <a:latin typeface="Calibri"/>
                <a:ea typeface="Calibri"/>
                <a:cs typeface="Calibri"/>
                <a:sym typeface="Calibri"/>
              </a:rPr>
              <a:t>Secrets in .env / Azure config, zero in repo</a:t>
            </a:r>
            <a:endParaRPr/>
          </a:p>
        </p:txBody>
      </p:sp>
      <p:sp>
        <p:nvSpPr>
          <p:cNvPr id="720" name="Google Shape;720;p26"/>
          <p:cNvSpPr txBox="1"/>
          <p:nvPr/>
        </p:nvSpPr>
        <p:spPr>
          <a:xfrm>
            <a:off x="731520" y="6217920"/>
            <a:ext cx="10058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F6D7F"/>
                </a:solidFill>
                <a:latin typeface="Calibri"/>
                <a:ea typeface="Calibri"/>
                <a:cs typeface="Calibri"/>
                <a:sym typeface="Calibri"/>
              </a:rPr>
              <a:t>Additional:</a:t>
            </a:r>
            <a:r>
              <a:rPr i="1" lang="en-US" sz="1300">
                <a:solidFill>
                  <a:srgbClr val="5F6D7F"/>
                </a:solidFill>
                <a:latin typeface="Calibri"/>
                <a:ea typeface="Calibri"/>
                <a:cs typeface="Calibri"/>
                <a:sym typeface="Calibri"/>
              </a:rPr>
              <a:t> Account lockout</a:t>
            </a:r>
            <a:r>
              <a:rPr b="0" i="1" lang="en-US" sz="1300" u="none" cap="none" strike="noStrike">
                <a:solidFill>
                  <a:srgbClr val="5F6D7F"/>
                </a:solidFill>
                <a:latin typeface="Calibri"/>
                <a:ea typeface="Calibri"/>
                <a:cs typeface="Calibri"/>
                <a:sym typeface="Calibri"/>
              </a:rPr>
              <a:t>, React data sanitization</a:t>
            </a:r>
            <a:r>
              <a:rPr i="1" lang="en-US" sz="1300">
                <a:solidFill>
                  <a:srgbClr val="5F6D7F"/>
                </a:solidFill>
                <a:latin typeface="Calibri"/>
                <a:ea typeface="Calibri"/>
                <a:cs typeface="Calibri"/>
                <a:sym typeface="Calibri"/>
              </a:rPr>
              <a:t>, password hashing, EF SQL Parameterization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2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7"/>
          <p:cNvSpPr txBox="1"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THE IMPACT</a:t>
            </a:r>
            <a:endParaRPr/>
          </a:p>
        </p:txBody>
      </p:sp>
      <p:sp>
        <p:nvSpPr>
          <p:cNvPr id="727" name="Google Shape;727;p27"/>
          <p:cNvSpPr txBox="1"/>
          <p:nvPr/>
        </p:nvSpPr>
        <p:spPr>
          <a:xfrm>
            <a:off x="731520" y="128016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This Means</a:t>
            </a:r>
            <a:endParaRPr/>
          </a:p>
        </p:txBody>
      </p:sp>
      <p:sp>
        <p:nvSpPr>
          <p:cNvPr id="728" name="Google Shape;728;p27"/>
          <p:cNvSpPr txBox="1"/>
          <p:nvPr/>
        </p:nvSpPr>
        <p:spPr>
          <a:xfrm>
            <a:off x="914400" y="2377440"/>
            <a:ext cx="3200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9F43"/>
                </a:solidFill>
                <a:latin typeface="Georgia"/>
                <a:ea typeface="Georgia"/>
                <a:cs typeface="Georgia"/>
                <a:sym typeface="Georgia"/>
              </a:rPr>
              <a:t>8</a:t>
            </a:r>
            <a:endParaRPr/>
          </a:p>
        </p:txBody>
      </p:sp>
      <p:sp>
        <p:nvSpPr>
          <p:cNvPr id="729" name="Google Shape;729;p27"/>
          <p:cNvSpPr txBox="1"/>
          <p:nvPr/>
        </p:nvSpPr>
        <p:spPr>
          <a:xfrm>
            <a:off x="914400" y="35661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pipelines</a:t>
            </a:r>
            <a:endParaRPr/>
          </a:p>
        </p:txBody>
      </p:sp>
      <p:sp>
        <p:nvSpPr>
          <p:cNvPr id="730" name="Google Shape;730;p27"/>
          <p:cNvSpPr txBox="1"/>
          <p:nvPr/>
        </p:nvSpPr>
        <p:spPr>
          <a:xfrm>
            <a:off x="914400" y="3977639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3 domains, all deployed live</a:t>
            </a:r>
            <a:endParaRPr/>
          </a:p>
        </p:txBody>
      </p:sp>
      <p:sp>
        <p:nvSpPr>
          <p:cNvPr id="731" name="Google Shape;731;p27"/>
          <p:cNvSpPr txBox="1"/>
          <p:nvPr/>
        </p:nvSpPr>
        <p:spPr>
          <a:xfrm>
            <a:off x="4572000" y="2377440"/>
            <a:ext cx="3200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9F43"/>
                </a:solidFill>
                <a:latin typeface="Georgia"/>
                <a:ea typeface="Georgia"/>
                <a:cs typeface="Georgia"/>
                <a:sym typeface="Georgia"/>
              </a:rPr>
              <a:t>76</a:t>
            </a:r>
            <a:endParaRPr/>
          </a:p>
        </p:txBody>
      </p:sp>
      <p:sp>
        <p:nvSpPr>
          <p:cNvPr id="732" name="Google Shape;732;p27"/>
          <p:cNvSpPr txBox="1"/>
          <p:nvPr/>
        </p:nvSpPr>
        <p:spPr>
          <a:xfrm>
            <a:off x="4572000" y="35661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Active residents</a:t>
            </a:r>
            <a:endParaRPr/>
          </a:p>
        </p:txBody>
      </p:sp>
      <p:sp>
        <p:nvSpPr>
          <p:cNvPr id="733" name="Google Shape;733;p27"/>
          <p:cNvSpPr txBox="1"/>
          <p:nvPr/>
        </p:nvSpPr>
        <p:spPr>
          <a:xfrm>
            <a:off x="4572000" y="3977639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Full care lifecycle tracked</a:t>
            </a:r>
            <a:endParaRPr/>
          </a:p>
        </p:txBody>
      </p:sp>
      <p:sp>
        <p:nvSpPr>
          <p:cNvPr id="734" name="Google Shape;734;p27"/>
          <p:cNvSpPr txBox="1"/>
          <p:nvPr/>
        </p:nvSpPr>
        <p:spPr>
          <a:xfrm>
            <a:off x="8229600" y="2377440"/>
            <a:ext cx="3200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9F43"/>
                </a:solidFill>
                <a:latin typeface="Georgia"/>
                <a:ea typeface="Georgia"/>
                <a:cs typeface="Georgia"/>
                <a:sym typeface="Georgia"/>
              </a:rPr>
              <a:t>100%</a:t>
            </a:r>
            <a:endParaRPr/>
          </a:p>
        </p:txBody>
      </p:sp>
      <p:sp>
        <p:nvSpPr>
          <p:cNvPr id="735" name="Google Shape;735;p27"/>
          <p:cNvSpPr txBox="1"/>
          <p:nvPr/>
        </p:nvSpPr>
        <p:spPr>
          <a:xfrm>
            <a:off x="8229600" y="35661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Donor outreach automated</a:t>
            </a:r>
            <a:endParaRPr/>
          </a:p>
        </p:txBody>
      </p:sp>
      <p:sp>
        <p:nvSpPr>
          <p:cNvPr id="736" name="Google Shape;736;p27"/>
          <p:cNvSpPr txBox="1"/>
          <p:nvPr/>
        </p:nvSpPr>
        <p:spPr>
          <a:xfrm>
            <a:off x="8229600" y="3977639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AI content, newsletter, churn alerts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28"/>
          <p:cNvSpPr txBox="1"/>
          <p:nvPr/>
        </p:nvSpPr>
        <p:spPr>
          <a:xfrm>
            <a:off x="-1687663" y="2310774"/>
            <a:ext cx="15567000" cy="15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77825" lIns="155650" spcFirstLastPara="1" rIns="155650" wrap="square" tIns="778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4426" u="none" cap="none" strike="noStrike">
                <a:solidFill>
                  <a:srgbClr val="14B8A4"/>
                </a:solidFill>
                <a:latin typeface="Georgia"/>
                <a:ea typeface="Georgia"/>
                <a:cs typeface="Georgia"/>
                <a:sym typeface="Georgia"/>
              </a:rPr>
              <a:t>“I never thought I could have a future.</a:t>
            </a:r>
            <a:br>
              <a:rPr b="0" i="1" lang="en-US" sz="4426" u="none" cap="none" strike="noStrike">
                <a:solidFill>
                  <a:srgbClr val="14B8A4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1" lang="en-US" sz="4426" u="none" cap="none" strike="noStrike">
                <a:solidFill>
                  <a:srgbClr val="14B8A4"/>
                </a:solidFill>
                <a:latin typeface="Georgia"/>
                <a:ea typeface="Georgia"/>
                <a:cs typeface="Georgia"/>
                <a:sym typeface="Georgia"/>
              </a:rPr>
              <a:t>Beacon of Hope gave me one.”</a:t>
            </a:r>
            <a:endParaRPr sz="2383"/>
          </a:p>
        </p:txBody>
      </p:sp>
      <p:sp>
        <p:nvSpPr>
          <p:cNvPr id="742" name="Google Shape;742;p28"/>
          <p:cNvSpPr txBox="1"/>
          <p:nvPr/>
        </p:nvSpPr>
        <p:spPr>
          <a:xfrm>
            <a:off x="-1687663" y="4023122"/>
            <a:ext cx="15567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77825" lIns="155650" spcFirstLastPara="1" rIns="155650" wrap="square" tIns="778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83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A Beacon of Hope graduate  •  Successfully reintegrated after </a:t>
            </a:r>
            <a:r>
              <a:rPr lang="en-US" sz="1483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participation</a:t>
            </a:r>
            <a:r>
              <a:rPr b="0" i="0" lang="en-US" sz="1483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 in our program</a:t>
            </a:r>
            <a:endParaRPr sz="1483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de3cafd4d1_1_2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g3de3cafd4d1_1_2"/>
          <p:cNvSpPr txBox="1"/>
          <p:nvPr/>
        </p:nvSpPr>
        <p:spPr>
          <a:xfrm>
            <a:off x="5623560" y="1554480"/>
            <a:ext cx="914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❤</a:t>
            </a:r>
            <a:endParaRPr/>
          </a:p>
        </p:txBody>
      </p:sp>
      <p:sp>
        <p:nvSpPr>
          <p:cNvPr id="749" name="Google Shape;749;g3de3cafd4d1_1_2"/>
          <p:cNvSpPr txBox="1"/>
          <p:nvPr/>
        </p:nvSpPr>
        <p:spPr>
          <a:xfrm>
            <a:off x="2438247" y="2926080"/>
            <a:ext cx="7315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/>
          </a:p>
        </p:txBody>
      </p:sp>
      <p:sp>
        <p:nvSpPr>
          <p:cNvPr id="750" name="Google Shape;750;g3de3cafd4d1_1_2"/>
          <p:cNvSpPr txBox="1"/>
          <p:nvPr/>
        </p:nvSpPr>
        <p:spPr>
          <a:xfrm>
            <a:off x="3352647" y="4023360"/>
            <a:ext cx="5486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/>
          </a:p>
        </p:txBody>
      </p:sp>
      <p:sp>
        <p:nvSpPr>
          <p:cNvPr id="751" name="Google Shape;751;g3de3cafd4d1_1_2"/>
          <p:cNvSpPr txBox="1"/>
          <p:nvPr/>
        </p:nvSpPr>
        <p:spPr>
          <a:xfrm>
            <a:off x="3352647" y="4937760"/>
            <a:ext cx="548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Team Beacon  •  April 2026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2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9"/>
          <p:cNvSpPr txBox="1"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TRY IT YOURSELF</a:t>
            </a:r>
            <a:endParaRPr/>
          </a:p>
        </p:txBody>
      </p:sp>
      <p:sp>
        <p:nvSpPr>
          <p:cNvPr id="758" name="Google Shape;758;p29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Open a Link to Explore the App</a:t>
            </a:r>
            <a:endParaRPr/>
          </a:p>
        </p:txBody>
      </p:sp>
      <p:sp>
        <p:nvSpPr>
          <p:cNvPr id="759" name="Google Shape;759;p29"/>
          <p:cNvSpPr txBox="1"/>
          <p:nvPr/>
        </p:nvSpPr>
        <p:spPr>
          <a:xfrm>
            <a:off x="731520" y="15087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Each link logs you in automatically. Pick any account.</a:t>
            </a:r>
            <a:endParaRPr/>
          </a:p>
        </p:txBody>
      </p:sp>
      <p:sp>
        <p:nvSpPr>
          <p:cNvPr id="760" name="Google Shape;760;p29"/>
          <p:cNvSpPr/>
          <p:nvPr/>
        </p:nvSpPr>
        <p:spPr>
          <a:xfrm>
            <a:off x="960120" y="2103120"/>
            <a:ext cx="3108960" cy="2011680"/>
          </a:xfrm>
          <a:prstGeom prst="roundRect">
            <a:avLst>
              <a:gd fmla="val 16667" name="adj"/>
            </a:avLst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9"/>
          <p:cNvSpPr/>
          <p:nvPr/>
        </p:nvSpPr>
        <p:spPr>
          <a:xfrm>
            <a:off x="960120" y="2103120"/>
            <a:ext cx="3108960" cy="54864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9"/>
          <p:cNvSpPr txBox="1"/>
          <p:nvPr/>
        </p:nvSpPr>
        <p:spPr>
          <a:xfrm>
            <a:off x="1234440" y="23317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/>
          </a:p>
        </p:txBody>
      </p:sp>
      <p:sp>
        <p:nvSpPr>
          <p:cNvPr id="763" name="Google Shape;763;p29"/>
          <p:cNvSpPr txBox="1"/>
          <p:nvPr/>
        </p:nvSpPr>
        <p:spPr>
          <a:xfrm>
            <a:off x="1234440" y="2697479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Full access, all safehouses</a:t>
            </a:r>
            <a:endParaRPr/>
          </a:p>
        </p:txBody>
      </p:sp>
      <p:sp>
        <p:nvSpPr>
          <p:cNvPr id="764" name="Google Shape;764;p29"/>
          <p:cNvSpPr/>
          <p:nvPr/>
        </p:nvSpPr>
        <p:spPr>
          <a:xfrm>
            <a:off x="1143000" y="3154679"/>
            <a:ext cx="2743200" cy="502920"/>
          </a:xfrm>
          <a:prstGeom prst="roundRect">
            <a:avLst>
              <a:gd fmla="val 16667" name="adj"/>
            </a:avLst>
          </a:prstGeom>
          <a:solidFill>
            <a:srgbClr val="33496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9"/>
          <p:cNvSpPr txBox="1"/>
          <p:nvPr/>
        </p:nvSpPr>
        <p:spPr>
          <a:xfrm>
            <a:off x="1143000" y="3200399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bit.ly/4tdWqDG</a:t>
            </a:r>
            <a:endParaRPr/>
          </a:p>
        </p:txBody>
      </p:sp>
      <p:sp>
        <p:nvSpPr>
          <p:cNvPr id="766" name="Google Shape;766;p29"/>
          <p:cNvSpPr/>
          <p:nvPr/>
        </p:nvSpPr>
        <p:spPr>
          <a:xfrm>
            <a:off x="4343400" y="2103120"/>
            <a:ext cx="3108960" cy="2011680"/>
          </a:xfrm>
          <a:prstGeom prst="roundRect">
            <a:avLst>
              <a:gd fmla="val 16667" name="adj"/>
            </a:avLst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9"/>
          <p:cNvSpPr/>
          <p:nvPr/>
        </p:nvSpPr>
        <p:spPr>
          <a:xfrm>
            <a:off x="4343400" y="2103120"/>
            <a:ext cx="3108960" cy="54864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9"/>
          <p:cNvSpPr txBox="1"/>
          <p:nvPr/>
        </p:nvSpPr>
        <p:spPr>
          <a:xfrm>
            <a:off x="4617720" y="23317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INTEX Judge 1</a:t>
            </a:r>
            <a:endParaRPr/>
          </a:p>
        </p:txBody>
      </p:sp>
      <p:sp>
        <p:nvSpPr>
          <p:cNvPr id="769" name="Google Shape;769;p29"/>
          <p:cNvSpPr txBox="1"/>
          <p:nvPr/>
        </p:nvSpPr>
        <p:spPr>
          <a:xfrm>
            <a:off x="4617720" y="2697479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Elena Cruz  -  SH01</a:t>
            </a:r>
            <a:endParaRPr/>
          </a:p>
        </p:txBody>
      </p:sp>
      <p:sp>
        <p:nvSpPr>
          <p:cNvPr id="770" name="Google Shape;770;p29"/>
          <p:cNvSpPr/>
          <p:nvPr/>
        </p:nvSpPr>
        <p:spPr>
          <a:xfrm>
            <a:off x="4526280" y="3154679"/>
            <a:ext cx="2743200" cy="502920"/>
          </a:xfrm>
          <a:prstGeom prst="roundRect">
            <a:avLst>
              <a:gd fmla="val 16667" name="adj"/>
            </a:avLst>
          </a:prstGeom>
          <a:solidFill>
            <a:srgbClr val="33496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9"/>
          <p:cNvSpPr txBox="1"/>
          <p:nvPr/>
        </p:nvSpPr>
        <p:spPr>
          <a:xfrm>
            <a:off x="4526280" y="3200399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bit.ly/3Q2pGyH</a:t>
            </a:r>
            <a:endParaRPr/>
          </a:p>
        </p:txBody>
      </p:sp>
      <p:sp>
        <p:nvSpPr>
          <p:cNvPr id="772" name="Google Shape;772;p29"/>
          <p:cNvSpPr/>
          <p:nvPr/>
        </p:nvSpPr>
        <p:spPr>
          <a:xfrm>
            <a:off x="7726680" y="2103120"/>
            <a:ext cx="3108960" cy="2011680"/>
          </a:xfrm>
          <a:prstGeom prst="roundRect">
            <a:avLst>
              <a:gd fmla="val 16667" name="adj"/>
            </a:avLst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9"/>
          <p:cNvSpPr/>
          <p:nvPr/>
        </p:nvSpPr>
        <p:spPr>
          <a:xfrm>
            <a:off x="7726680" y="2103120"/>
            <a:ext cx="3108960" cy="54864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9"/>
          <p:cNvSpPr txBox="1"/>
          <p:nvPr/>
        </p:nvSpPr>
        <p:spPr>
          <a:xfrm>
            <a:off x="8001000" y="23317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INTEX Judge 2</a:t>
            </a:r>
            <a:endParaRPr/>
          </a:p>
        </p:txBody>
      </p:sp>
      <p:sp>
        <p:nvSpPr>
          <p:cNvPr id="775" name="Google Shape;775;p29"/>
          <p:cNvSpPr txBox="1"/>
          <p:nvPr/>
        </p:nvSpPr>
        <p:spPr>
          <a:xfrm>
            <a:off x="8001000" y="2697479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Rosa Garcia  -  SH02</a:t>
            </a:r>
            <a:endParaRPr/>
          </a:p>
        </p:txBody>
      </p:sp>
      <p:sp>
        <p:nvSpPr>
          <p:cNvPr id="776" name="Google Shape;776;p29"/>
          <p:cNvSpPr/>
          <p:nvPr/>
        </p:nvSpPr>
        <p:spPr>
          <a:xfrm>
            <a:off x="7909560" y="3154679"/>
            <a:ext cx="2743200" cy="502920"/>
          </a:xfrm>
          <a:prstGeom prst="roundRect">
            <a:avLst>
              <a:gd fmla="val 16667" name="adj"/>
            </a:avLst>
          </a:prstGeom>
          <a:solidFill>
            <a:srgbClr val="33496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9"/>
          <p:cNvSpPr txBox="1"/>
          <p:nvPr/>
        </p:nvSpPr>
        <p:spPr>
          <a:xfrm>
            <a:off x="7909560" y="3200399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bit.ly/4c3xusJ</a:t>
            </a:r>
            <a:endParaRPr/>
          </a:p>
        </p:txBody>
      </p:sp>
      <p:sp>
        <p:nvSpPr>
          <p:cNvPr id="778" name="Google Shape;778;p29"/>
          <p:cNvSpPr/>
          <p:nvPr/>
        </p:nvSpPr>
        <p:spPr>
          <a:xfrm>
            <a:off x="960120" y="4480560"/>
            <a:ext cx="3108960" cy="2011680"/>
          </a:xfrm>
          <a:prstGeom prst="roundRect">
            <a:avLst>
              <a:gd fmla="val 16667" name="adj"/>
            </a:avLst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9"/>
          <p:cNvSpPr/>
          <p:nvPr/>
        </p:nvSpPr>
        <p:spPr>
          <a:xfrm>
            <a:off x="960120" y="4480560"/>
            <a:ext cx="3108960" cy="54864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9"/>
          <p:cNvSpPr txBox="1"/>
          <p:nvPr/>
        </p:nvSpPr>
        <p:spPr>
          <a:xfrm>
            <a:off x="1234440" y="47091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Donor</a:t>
            </a:r>
            <a:endParaRPr/>
          </a:p>
        </p:txBody>
      </p:sp>
      <p:sp>
        <p:nvSpPr>
          <p:cNvPr id="781" name="Google Shape;781;p29"/>
          <p:cNvSpPr txBox="1"/>
          <p:nvPr/>
        </p:nvSpPr>
        <p:spPr>
          <a:xfrm>
            <a:off x="1234440" y="50749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Donor portal only</a:t>
            </a:r>
            <a:endParaRPr/>
          </a:p>
        </p:txBody>
      </p:sp>
      <p:sp>
        <p:nvSpPr>
          <p:cNvPr id="782" name="Google Shape;782;p29"/>
          <p:cNvSpPr/>
          <p:nvPr/>
        </p:nvSpPr>
        <p:spPr>
          <a:xfrm>
            <a:off x="1143000" y="5532120"/>
            <a:ext cx="2743200" cy="502920"/>
          </a:xfrm>
          <a:prstGeom prst="roundRect">
            <a:avLst>
              <a:gd fmla="val 16667" name="adj"/>
            </a:avLst>
          </a:prstGeom>
          <a:solidFill>
            <a:srgbClr val="33496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9"/>
          <p:cNvSpPr txBox="1"/>
          <p:nvPr/>
        </p:nvSpPr>
        <p:spPr>
          <a:xfrm>
            <a:off x="1143000" y="55778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bit.ly/4tHnsU8</a:t>
            </a:r>
            <a:endParaRPr/>
          </a:p>
        </p:txBody>
      </p:sp>
      <p:sp>
        <p:nvSpPr>
          <p:cNvPr id="784" name="Google Shape;784;p29"/>
          <p:cNvSpPr/>
          <p:nvPr/>
        </p:nvSpPr>
        <p:spPr>
          <a:xfrm>
            <a:off x="4343400" y="4480560"/>
            <a:ext cx="3108960" cy="2011680"/>
          </a:xfrm>
          <a:prstGeom prst="roundRect">
            <a:avLst>
              <a:gd fmla="val 16667" name="adj"/>
            </a:avLst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9"/>
          <p:cNvSpPr/>
          <p:nvPr/>
        </p:nvSpPr>
        <p:spPr>
          <a:xfrm>
            <a:off x="4343400" y="4480560"/>
            <a:ext cx="3108960" cy="54864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9"/>
          <p:cNvSpPr txBox="1"/>
          <p:nvPr/>
        </p:nvSpPr>
        <p:spPr>
          <a:xfrm>
            <a:off x="4617720" y="47091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INTEX Judge 3</a:t>
            </a:r>
            <a:endParaRPr/>
          </a:p>
        </p:txBody>
      </p:sp>
      <p:sp>
        <p:nvSpPr>
          <p:cNvPr id="787" name="Google Shape;787;p29"/>
          <p:cNvSpPr txBox="1"/>
          <p:nvPr/>
        </p:nvSpPr>
        <p:spPr>
          <a:xfrm>
            <a:off x="4617720" y="50749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Ana Reyes  -  SH03</a:t>
            </a:r>
            <a:endParaRPr/>
          </a:p>
        </p:txBody>
      </p:sp>
      <p:sp>
        <p:nvSpPr>
          <p:cNvPr id="788" name="Google Shape;788;p29"/>
          <p:cNvSpPr/>
          <p:nvPr/>
        </p:nvSpPr>
        <p:spPr>
          <a:xfrm>
            <a:off x="4526280" y="5532120"/>
            <a:ext cx="2743200" cy="502920"/>
          </a:xfrm>
          <a:prstGeom prst="roundRect">
            <a:avLst>
              <a:gd fmla="val 16667" name="adj"/>
            </a:avLst>
          </a:prstGeom>
          <a:solidFill>
            <a:srgbClr val="33496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9"/>
          <p:cNvSpPr txBox="1"/>
          <p:nvPr/>
        </p:nvSpPr>
        <p:spPr>
          <a:xfrm>
            <a:off x="4526280" y="55778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bit.ly/4tE4GNo</a:t>
            </a:r>
            <a:endParaRPr/>
          </a:p>
        </p:txBody>
      </p:sp>
      <p:sp>
        <p:nvSpPr>
          <p:cNvPr id="790" name="Google Shape;790;p29"/>
          <p:cNvSpPr/>
          <p:nvPr/>
        </p:nvSpPr>
        <p:spPr>
          <a:xfrm>
            <a:off x="7726680" y="4480560"/>
            <a:ext cx="3108960" cy="2011680"/>
          </a:xfrm>
          <a:prstGeom prst="roundRect">
            <a:avLst>
              <a:gd fmla="val 16667" name="adj"/>
            </a:avLst>
          </a:prstGeom>
          <a:solidFill>
            <a:srgbClr val="1D30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9"/>
          <p:cNvSpPr/>
          <p:nvPr/>
        </p:nvSpPr>
        <p:spPr>
          <a:xfrm>
            <a:off x="7726680" y="4480560"/>
            <a:ext cx="3108960" cy="54864"/>
          </a:xfrm>
          <a:prstGeom prst="rect">
            <a:avLst/>
          </a:prstGeom>
          <a:solidFill>
            <a:srgbClr val="14B8A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9"/>
          <p:cNvSpPr txBox="1"/>
          <p:nvPr/>
        </p:nvSpPr>
        <p:spPr>
          <a:xfrm>
            <a:off x="8001000" y="47091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B8A4"/>
                </a:solidFill>
                <a:latin typeface="Calibri"/>
                <a:ea typeface="Calibri"/>
                <a:cs typeface="Calibri"/>
                <a:sym typeface="Calibri"/>
              </a:rPr>
              <a:t>INTEX Judge 4</a:t>
            </a:r>
            <a:endParaRPr/>
          </a:p>
        </p:txBody>
      </p:sp>
      <p:sp>
        <p:nvSpPr>
          <p:cNvPr id="793" name="Google Shape;793;p29"/>
          <p:cNvSpPr txBox="1"/>
          <p:nvPr/>
        </p:nvSpPr>
        <p:spPr>
          <a:xfrm>
            <a:off x="8001000" y="50749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Carmen Bautista  -  SH03, SH04</a:t>
            </a:r>
            <a:endParaRPr/>
          </a:p>
        </p:txBody>
      </p:sp>
      <p:sp>
        <p:nvSpPr>
          <p:cNvPr id="794" name="Google Shape;794;p29"/>
          <p:cNvSpPr/>
          <p:nvPr/>
        </p:nvSpPr>
        <p:spPr>
          <a:xfrm>
            <a:off x="7909560" y="5532120"/>
            <a:ext cx="2743200" cy="502920"/>
          </a:xfrm>
          <a:prstGeom prst="roundRect">
            <a:avLst>
              <a:gd fmla="val 16667" name="adj"/>
            </a:avLst>
          </a:prstGeom>
          <a:solidFill>
            <a:srgbClr val="33496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9"/>
          <p:cNvSpPr txBox="1"/>
          <p:nvPr/>
        </p:nvSpPr>
        <p:spPr>
          <a:xfrm>
            <a:off x="7909560" y="55778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bit.ly/4dETafW</a:t>
            </a:r>
            <a:endParaRPr/>
          </a:p>
        </p:txBody>
      </p:sp>
      <p:sp>
        <p:nvSpPr>
          <p:cNvPr id="796" name="Google Shape;796;p29"/>
          <p:cNvSpPr txBox="1"/>
          <p:nvPr/>
        </p:nvSpPr>
        <p:spPr>
          <a:xfrm>
            <a:off x="731520" y="649224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9EA8B6"/>
                </a:solidFill>
                <a:latin typeface="Calibri"/>
                <a:ea typeface="Calibri"/>
                <a:cs typeface="Calibri"/>
                <a:sym typeface="Calibri"/>
              </a:rPr>
              <a:t>Type any link into your browser. Explore while you deliberate.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